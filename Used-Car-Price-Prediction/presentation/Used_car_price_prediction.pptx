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media/image1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handoutMasterIdLst>
    <p:handoutMasterId r:id="rId24"/>
  </p:handoutMasterIdLst>
  <p:sldIdLst>
    <p:sldId id="281" r:id="rId3"/>
    <p:sldId id="257" r:id="rId4"/>
    <p:sldId id="259" r:id="rId5"/>
    <p:sldId id="266" r:id="rId6"/>
    <p:sldId id="263" r:id="rId7"/>
    <p:sldId id="260" r:id="rId8"/>
    <p:sldId id="261" r:id="rId9"/>
    <p:sldId id="277" r:id="rId10"/>
    <p:sldId id="269" r:id="rId11"/>
    <p:sldId id="283" r:id="rId12"/>
    <p:sldId id="284" r:id="rId13"/>
    <p:sldId id="285" r:id="rId14"/>
    <p:sldId id="286" r:id="rId16"/>
    <p:sldId id="287" r:id="rId17"/>
    <p:sldId id="288" r:id="rId18"/>
    <p:sldId id="262" r:id="rId19"/>
    <p:sldId id="289" r:id="rId20"/>
    <p:sldId id="290" r:id="rId21"/>
    <p:sldId id="291" r:id="rId22"/>
    <p:sldId id="280" r:id="rId23"/>
  </p:sldIdLst>
  <p:sldSz cx="12192000" cy="6858000"/>
  <p:notesSz cx="6858000" cy="9144000"/>
  <p:embeddedFontLst>
    <p:embeddedFont>
      <p:font typeface="Gilroy" panose="00000400000000000000" charset="0"/>
      <p:regular r:id="rId28"/>
    </p:embeddedFont>
    <p:embeddedFont>
      <p:font typeface="DM Serif Display" charset="0"/>
      <p:regular r:id="rId29"/>
      <p:italic r:id="rId30"/>
    </p:embeddedFont>
  </p:embeddedFontLst>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0" userDrawn="1">
          <p15:clr>
            <a:srgbClr val="A4A3A4"/>
          </p15:clr>
        </p15:guide>
        <p15:guide id="2" pos="3814" userDrawn="1">
          <p15:clr>
            <a:srgbClr val="A4A3A4"/>
          </p15:clr>
        </p15:guide>
        <p15:guide id="3" pos="449" userDrawn="1">
          <p15:clr>
            <a:srgbClr val="A4A3A4"/>
          </p15:clr>
        </p15:guide>
        <p15:guide id="4" pos="7197" userDrawn="1">
          <p15:clr>
            <a:srgbClr val="A4A3A4"/>
          </p15:clr>
        </p15:guide>
        <p15:guide id="5" orient="horz" pos="394" userDrawn="1">
          <p15:clr>
            <a:srgbClr val="A4A3A4"/>
          </p15:clr>
        </p15:guide>
        <p15:guide id="7" orient="horz" pos="781" userDrawn="1">
          <p15:clr>
            <a:srgbClr val="A4A3A4"/>
          </p15:clr>
        </p15:guide>
        <p15:guide id="8" orient="horz" pos="389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457"/>
    <a:srgbClr val="221195"/>
    <a:srgbClr val="1A3497"/>
    <a:srgbClr val="1B56A6"/>
    <a:srgbClr val="AF2EE2"/>
    <a:srgbClr val="030452"/>
    <a:srgbClr val="C44BAD"/>
    <a:srgbClr val="1B7FC0"/>
    <a:srgbClr val="E653AD"/>
    <a:srgbClr val="0602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374" autoAdjust="0"/>
    <p:restoredTop sz="94660"/>
  </p:normalViewPr>
  <p:slideViewPr>
    <p:cSldViewPr snapToGrid="0" showGuides="1">
      <p:cViewPr varScale="1">
        <p:scale>
          <a:sx n="100" d="100"/>
          <a:sy n="100" d="100"/>
        </p:scale>
        <p:origin x="348" y="78"/>
      </p:cViewPr>
      <p:guideLst>
        <p:guide orient="horz" pos="2130"/>
        <p:guide pos="3814"/>
        <p:guide pos="449"/>
        <p:guide pos="7197"/>
        <p:guide orient="horz" pos="394"/>
        <p:guide orient="horz" pos="781"/>
        <p:guide orient="horz" pos="3893"/>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1.xml"/><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dLbls>
          <c:showLegendKey val="0"/>
          <c:showVal val="0"/>
          <c:showCatName val="0"/>
          <c:showSerName val="0"/>
          <c:showPercent val="0"/>
          <c:showBubbleSize val="0"/>
        </c:dLbls>
        <c:gapWidth val="150"/>
        <c:overlap val="100"/>
        <c:axId val="965103760"/>
        <c:axId val="965110600"/>
      </c:barChart>
      <c:catAx>
        <c:axId val="96510376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65110600"/>
        <c:crosses val="autoZero"/>
        <c:auto val="1"/>
        <c:lblAlgn val="ctr"/>
        <c:lblOffset val="100"/>
        <c:noMultiLvlLbl val="0"/>
      </c:catAx>
      <c:valAx>
        <c:axId val="965110600"/>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65103760"/>
        <c:crosses val="autoZero"/>
        <c:crossBetween val="between"/>
      </c:valAx>
      <c:spPr>
        <a:noFill/>
        <a:ln>
          <a:noFill/>
        </a:ln>
        <a:effectLst/>
      </c:spPr>
    </c:plotArea>
    <c:plotVisOnly val="1"/>
    <c:dispBlanksAs val="gap"/>
    <c:showDLblsOverMax val="0"/>
    <c:extLst>
      <c:ext uri="{0b15fc19-7d7d-44ad-8c2d-2c3a37ce22c3}">
        <chartProps xmlns="https://web.wps.cn/et/2018/main" chartId="{6aec9af3-47ea-4bb5-872e-98fb3e910c78}"/>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Arial" panose="020B0604020202020204" pitchFamily="34" charset="0"/>
              <a:ea typeface="Arial" panose="020B0604020202020204" pitchFamily="3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Arial" panose="020B0604020202020204" pitchFamily="34" charset="0"/>
                <a:ea typeface="Arial" panose="020B0604020202020204" pitchFamily="34" charset="0"/>
              </a:rPr>
            </a:fld>
            <a:endParaRPr lang="zh-CN" altLang="en-US">
              <a:latin typeface="Arial" panose="020B0604020202020204" pitchFamily="34" charset="0"/>
              <a:ea typeface="Arial" panose="020B0604020202020204" pitchFamily="3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Arial" panose="020B0604020202020204" pitchFamily="34" charset="0"/>
              <a:ea typeface="Arial" panose="020B0604020202020204" pitchFamily="3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Arial" panose="020B0604020202020204" pitchFamily="34" charset="0"/>
                <a:ea typeface="Arial" panose="020B0604020202020204" pitchFamily="34" charset="0"/>
              </a:rPr>
            </a:fld>
            <a:endParaRPr lang="zh-CN" altLang="en-US">
              <a:latin typeface="Arial" panose="020B0604020202020204" pitchFamily="34" charset="0"/>
              <a:ea typeface="Arial" panose="020B0604020202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Arial" panose="020B060402020202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Arial" panose="020B0604020202020204" pitchFamily="3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Arial" panose="020B060402020202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ea typeface="Arial" panose="020B0604020202020204" pitchFamily="3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1pPr>
    <a:lvl2pPr marL="4572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2pPr>
    <a:lvl3pPr marL="9144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3pPr>
    <a:lvl4pPr marL="13716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4pPr>
    <a:lvl5pPr marL="1828800" algn="l" defTabSz="914400" rtl="0" eaLnBrk="1" latinLnBrk="0" hangingPunct="1">
      <a:defRPr sz="1200" kern="1200">
        <a:solidFill>
          <a:schemeClr val="tx1"/>
        </a:solidFill>
        <a:latin typeface="Arial" panose="020B0604020202020204" pitchFamily="34" charset="0"/>
        <a:ea typeface="Arial" panose="020B060402020202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35D21C1-192A-433B-AA91-106F9135B2A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5639C0-D7C8-48AA-AF63-0D692BECED2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5D21C1-192A-433B-AA91-106F9135B2A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39C0-D7C8-48AA-AF63-0D692BECED2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8000">
              <a:srgbClr val="190985"/>
            </a:gs>
            <a:gs pos="100000">
              <a:srgbClr val="1B59A7"/>
            </a:gs>
          </a:gsLst>
          <a:lin ang="16200000" scaled="1"/>
          <a:tileRect/>
        </a:gradFill>
        <a:effectLst/>
      </p:bgPr>
    </p:bg>
    <p:spTree>
      <p:nvGrpSpPr>
        <p:cNvPr id="1" name=""/>
        <p:cNvGrpSpPr/>
        <p:nvPr/>
      </p:nvGrpSpPr>
      <p:grpSpPr>
        <a:xfrm>
          <a:off x="0" y="0"/>
          <a:ext cx="0" cy="0"/>
          <a:chOff x="0" y="0"/>
          <a:chExt cx="0" cy="0"/>
        </a:xfrm>
      </p:grpSpPr>
      <p:pic>
        <p:nvPicPr>
          <p:cNvPr id="90" name="图片 89"/>
          <p:cNvPicPr>
            <a:picLocks noChangeAspect="1"/>
          </p:cNvPicPr>
          <p:nvPr/>
        </p:nvPicPr>
        <p:blipFill>
          <a:blip r:embed="rId1"/>
          <a:srcRect r="24556" b="42640"/>
          <a:stretch>
            <a:fillRect/>
          </a:stretch>
        </p:blipFill>
        <p:spPr>
          <a:xfrm>
            <a:off x="3595572" y="322166"/>
            <a:ext cx="8596428" cy="6535834"/>
          </a:xfrm>
          <a:custGeom>
            <a:avLst/>
            <a:gdLst>
              <a:gd name="connsiteX0" fmla="*/ 0 w 8596428"/>
              <a:gd name="connsiteY0" fmla="*/ 0 h 6535834"/>
              <a:gd name="connsiteX1" fmla="*/ 8596428 w 8596428"/>
              <a:gd name="connsiteY1" fmla="*/ 0 h 6535834"/>
              <a:gd name="connsiteX2" fmla="*/ 8596428 w 8596428"/>
              <a:gd name="connsiteY2" fmla="*/ 6535834 h 6535834"/>
              <a:gd name="connsiteX3" fmla="*/ 0 w 8596428"/>
              <a:gd name="connsiteY3" fmla="*/ 6535834 h 6535834"/>
            </a:gdLst>
            <a:ahLst/>
            <a:cxnLst>
              <a:cxn ang="0">
                <a:pos x="connsiteX0" y="connsiteY0"/>
              </a:cxn>
              <a:cxn ang="0">
                <a:pos x="connsiteX1" y="connsiteY1"/>
              </a:cxn>
              <a:cxn ang="0">
                <a:pos x="connsiteX2" y="connsiteY2"/>
              </a:cxn>
              <a:cxn ang="0">
                <a:pos x="connsiteX3" y="connsiteY3"/>
              </a:cxn>
            </a:cxnLst>
            <a:rect l="l" t="t" r="r" b="b"/>
            <a:pathLst>
              <a:path w="8596428" h="6535834">
                <a:moveTo>
                  <a:pt x="0" y="0"/>
                </a:moveTo>
                <a:lnTo>
                  <a:pt x="8596428" y="0"/>
                </a:lnTo>
                <a:lnTo>
                  <a:pt x="8596428" y="6535834"/>
                </a:lnTo>
                <a:lnTo>
                  <a:pt x="0" y="6535834"/>
                </a:lnTo>
                <a:close/>
              </a:path>
            </a:pathLst>
          </a:custGeom>
        </p:spPr>
      </p:pic>
      <p:pic>
        <p:nvPicPr>
          <p:cNvPr id="97" name="图片 96"/>
          <p:cNvPicPr>
            <a:picLocks noChangeAspect="1"/>
          </p:cNvPicPr>
          <p:nvPr/>
        </p:nvPicPr>
        <p:blipFill rotWithShape="1">
          <a:blip r:embed="rId2"/>
          <a:srcRect l="30135" t="41982" b="12967"/>
          <a:stretch>
            <a:fillRect/>
          </a:stretch>
        </p:blipFill>
        <p:spPr>
          <a:xfrm>
            <a:off x="0" y="0"/>
            <a:ext cx="10639842" cy="6858000"/>
          </a:xfrm>
          <a:custGeom>
            <a:avLst/>
            <a:gdLst>
              <a:gd name="connsiteX0" fmla="*/ 0 w 10639842"/>
              <a:gd name="connsiteY0" fmla="*/ 0 h 6858000"/>
              <a:gd name="connsiteX1" fmla="*/ 10639842 w 10639842"/>
              <a:gd name="connsiteY1" fmla="*/ 0 h 6858000"/>
              <a:gd name="connsiteX2" fmla="*/ 10639842 w 10639842"/>
              <a:gd name="connsiteY2" fmla="*/ 6858000 h 6858000"/>
              <a:gd name="connsiteX3" fmla="*/ 0 w 106398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639842" h="6858000">
                <a:moveTo>
                  <a:pt x="0" y="0"/>
                </a:moveTo>
                <a:lnTo>
                  <a:pt x="10639842" y="0"/>
                </a:lnTo>
                <a:lnTo>
                  <a:pt x="10639842" y="6858000"/>
                </a:lnTo>
                <a:lnTo>
                  <a:pt x="0" y="6858000"/>
                </a:lnTo>
                <a:close/>
              </a:path>
            </a:pathLst>
          </a:custGeom>
        </p:spPr>
      </p:pic>
      <p:pic>
        <p:nvPicPr>
          <p:cNvPr id="113" name="图片 112"/>
          <p:cNvPicPr>
            <a:picLocks noChangeAspect="1"/>
          </p:cNvPicPr>
          <p:nvPr/>
        </p:nvPicPr>
        <p:blipFill>
          <a:blip r:embed="rId3"/>
          <a:srcRect l="27603" t="64262"/>
          <a:stretch>
            <a:fillRect/>
          </a:stretch>
        </p:blipFill>
        <p:spPr>
          <a:xfrm>
            <a:off x="1" y="0"/>
            <a:ext cx="8550511" cy="4060993"/>
          </a:xfrm>
          <a:custGeom>
            <a:avLst/>
            <a:gdLst>
              <a:gd name="connsiteX0" fmla="*/ 0 w 8550511"/>
              <a:gd name="connsiteY0" fmla="*/ 0 h 4060993"/>
              <a:gd name="connsiteX1" fmla="*/ 8550511 w 8550511"/>
              <a:gd name="connsiteY1" fmla="*/ 0 h 4060993"/>
              <a:gd name="connsiteX2" fmla="*/ 8550511 w 8550511"/>
              <a:gd name="connsiteY2" fmla="*/ 4060993 h 4060993"/>
              <a:gd name="connsiteX3" fmla="*/ 0 w 8550511"/>
              <a:gd name="connsiteY3" fmla="*/ 4060993 h 4060993"/>
            </a:gdLst>
            <a:ahLst/>
            <a:cxnLst>
              <a:cxn ang="0">
                <a:pos x="connsiteX0" y="connsiteY0"/>
              </a:cxn>
              <a:cxn ang="0">
                <a:pos x="connsiteX1" y="connsiteY1"/>
              </a:cxn>
              <a:cxn ang="0">
                <a:pos x="connsiteX2" y="connsiteY2"/>
              </a:cxn>
              <a:cxn ang="0">
                <a:pos x="connsiteX3" y="connsiteY3"/>
              </a:cxn>
            </a:cxnLst>
            <a:rect l="l" t="t" r="r" b="b"/>
            <a:pathLst>
              <a:path w="8550511" h="4060993">
                <a:moveTo>
                  <a:pt x="0" y="0"/>
                </a:moveTo>
                <a:lnTo>
                  <a:pt x="8550511" y="0"/>
                </a:lnTo>
                <a:lnTo>
                  <a:pt x="8550511" y="4060993"/>
                </a:lnTo>
                <a:lnTo>
                  <a:pt x="0" y="4060993"/>
                </a:lnTo>
                <a:close/>
              </a:path>
            </a:pathLst>
          </a:custGeom>
        </p:spPr>
      </p:pic>
      <p:pic>
        <p:nvPicPr>
          <p:cNvPr id="119" name="图片 118"/>
          <p:cNvPicPr>
            <a:picLocks noChangeAspect="1"/>
          </p:cNvPicPr>
          <p:nvPr/>
        </p:nvPicPr>
        <p:blipFill rotWithShape="1">
          <a:blip r:embed="rId4"/>
          <a:srcRect l="-13545" t="1" r="34945" b="41439"/>
          <a:stretch>
            <a:fillRect/>
          </a:stretch>
        </p:blipFill>
        <p:spPr>
          <a:xfrm rot="605302">
            <a:off x="5994360" y="2794755"/>
            <a:ext cx="6459513" cy="4612577"/>
          </a:xfrm>
          <a:custGeom>
            <a:avLst/>
            <a:gdLst>
              <a:gd name="connsiteX0" fmla="*/ 0 w 6459513"/>
              <a:gd name="connsiteY0" fmla="*/ 0 h 4612577"/>
              <a:gd name="connsiteX1" fmla="*/ 5833918 w 6459513"/>
              <a:gd name="connsiteY1" fmla="*/ 0 h 4612577"/>
              <a:gd name="connsiteX2" fmla="*/ 6459513 w 6459513"/>
              <a:gd name="connsiteY2" fmla="*/ 3516206 h 4612577"/>
              <a:gd name="connsiteX3" fmla="*/ 297276 w 6459513"/>
              <a:gd name="connsiteY3" fmla="*/ 4612577 h 4612577"/>
            </a:gdLst>
            <a:ahLst/>
            <a:cxnLst>
              <a:cxn ang="0">
                <a:pos x="connsiteX0" y="connsiteY0"/>
              </a:cxn>
              <a:cxn ang="0">
                <a:pos x="connsiteX1" y="connsiteY1"/>
              </a:cxn>
              <a:cxn ang="0">
                <a:pos x="connsiteX2" y="connsiteY2"/>
              </a:cxn>
              <a:cxn ang="0">
                <a:pos x="connsiteX3" y="connsiteY3"/>
              </a:cxn>
            </a:cxnLst>
            <a:rect l="l" t="t" r="r" b="b"/>
            <a:pathLst>
              <a:path w="6459513" h="4612577">
                <a:moveTo>
                  <a:pt x="0" y="0"/>
                </a:moveTo>
                <a:lnTo>
                  <a:pt x="5833918" y="0"/>
                </a:lnTo>
                <a:lnTo>
                  <a:pt x="6459513" y="3516206"/>
                </a:lnTo>
                <a:lnTo>
                  <a:pt x="297276" y="4612577"/>
                </a:lnTo>
                <a:close/>
              </a:path>
            </a:pathLst>
          </a:custGeom>
        </p:spPr>
      </p:pic>
      <p:sp>
        <p:nvSpPr>
          <p:cNvPr id="17" name="任意多边形: 形状 16"/>
          <p:cNvSpPr/>
          <p:nvPr/>
        </p:nvSpPr>
        <p:spPr>
          <a:xfrm>
            <a:off x="1" y="0"/>
            <a:ext cx="1837206" cy="6858000"/>
          </a:xfrm>
          <a:custGeom>
            <a:avLst/>
            <a:gdLst>
              <a:gd name="connsiteX0" fmla="*/ 0 w 2347833"/>
              <a:gd name="connsiteY0" fmla="*/ 0 h 6858000"/>
              <a:gd name="connsiteX1" fmla="*/ 2347833 w 2347833"/>
              <a:gd name="connsiteY1" fmla="*/ 0 h 6858000"/>
              <a:gd name="connsiteX2" fmla="*/ 2347833 w 2347833"/>
              <a:gd name="connsiteY2" fmla="*/ 6858000 h 6858000"/>
              <a:gd name="connsiteX3" fmla="*/ 0 w 234783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347833" h="6858000">
                <a:moveTo>
                  <a:pt x="0" y="0"/>
                </a:moveTo>
                <a:lnTo>
                  <a:pt x="2347833" y="0"/>
                </a:lnTo>
                <a:lnTo>
                  <a:pt x="2347833" y="6858000"/>
                </a:lnTo>
                <a:lnTo>
                  <a:pt x="0" y="685800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文本框 11"/>
          <p:cNvSpPr txBox="1"/>
          <p:nvPr/>
        </p:nvSpPr>
        <p:spPr>
          <a:xfrm>
            <a:off x="673519" y="348000"/>
            <a:ext cx="1304596" cy="276999"/>
          </a:xfrm>
          <a:prstGeom prst="rect">
            <a:avLst/>
          </a:prstGeom>
          <a:noFill/>
        </p:spPr>
        <p:txBody>
          <a:bodyPr wrap="square">
            <a:spAutoFit/>
          </a:bodyPr>
          <a:lstStyle/>
          <a:p>
            <a:r>
              <a:rPr lang="en-US" altLang="zh-CN" sz="1200" dirty="0">
                <a:solidFill>
                  <a:schemeClr val="bg1"/>
                </a:solidFill>
                <a:latin typeface="+mj-lt"/>
              </a:rPr>
              <a:t>YOUR  LOGO</a:t>
            </a:r>
            <a:endParaRPr lang="zh-CN" altLang="en-US" sz="1200" dirty="0">
              <a:solidFill>
                <a:schemeClr val="bg1"/>
              </a:solidFill>
              <a:latin typeface="+mj-lt"/>
            </a:endParaRPr>
          </a:p>
        </p:txBody>
      </p:sp>
      <p:sp>
        <p:nvSpPr>
          <p:cNvPr id="9" name="文本框 8"/>
          <p:cNvSpPr txBox="1"/>
          <p:nvPr/>
        </p:nvSpPr>
        <p:spPr>
          <a:xfrm>
            <a:off x="10115089" y="6260953"/>
            <a:ext cx="2893925" cy="261610"/>
          </a:xfrm>
          <a:prstGeom prst="rect">
            <a:avLst/>
          </a:prstGeom>
          <a:noFill/>
        </p:spPr>
        <p:txBody>
          <a:bodyPr wrap="square">
            <a:spAutoFit/>
          </a:bodyPr>
          <a:lstStyle>
            <a:defPPr>
              <a:defRPr lang="zh-CN"/>
            </a:defPPr>
            <a:lvl1pPr fontAlgn="ctr">
              <a:defRPr sz="2000" b="0" i="0" u="none" strike="noStrike">
                <a:solidFill>
                  <a:srgbClr val="000000"/>
                </a:solidFill>
                <a:effectLst/>
                <a:latin typeface="+mj-lt"/>
                <a:ea typeface="Microsoft YaHei" panose="020B0503020204020204" pitchFamily="34" charset="-122"/>
              </a:defRPr>
            </a:lvl1pPr>
          </a:lstStyle>
          <a:p>
            <a:r>
              <a:rPr lang="en-US" altLang="zh-CN" sz="1100" dirty="0">
                <a:solidFill>
                  <a:schemeClr val="bg1"/>
                </a:solidFill>
                <a:ea typeface="Arial" panose="020B0604020202020204" pitchFamily="34" charset="0"/>
              </a:rPr>
              <a:t>PRESENTATION</a:t>
            </a:r>
            <a:endParaRPr lang="en-US" altLang="zh-CN" sz="1100" dirty="0">
              <a:solidFill>
                <a:schemeClr val="bg1"/>
              </a:solidFill>
              <a:ea typeface="Arial" panose="020B0604020202020204" pitchFamily="34" charset="0"/>
            </a:endParaRPr>
          </a:p>
        </p:txBody>
      </p:sp>
      <p:grpSp>
        <p:nvGrpSpPr>
          <p:cNvPr id="45" name="组合 44"/>
          <p:cNvGrpSpPr/>
          <p:nvPr/>
        </p:nvGrpSpPr>
        <p:grpSpPr>
          <a:xfrm rot="16200000">
            <a:off x="1435082" y="5418951"/>
            <a:ext cx="761187" cy="761187"/>
            <a:chOff x="1984442" y="5680952"/>
            <a:chExt cx="476655" cy="476655"/>
          </a:xfrm>
          <a:solidFill>
            <a:srgbClr val="AF2EE2"/>
          </a:solidFill>
        </p:grpSpPr>
        <p:sp>
          <p:nvSpPr>
            <p:cNvPr id="28" name="椭圆 27"/>
            <p:cNvSpPr/>
            <p:nvPr/>
          </p:nvSpPr>
          <p:spPr>
            <a:xfrm>
              <a:off x="1984442" y="5680952"/>
              <a:ext cx="476655" cy="47665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半闭框 29"/>
            <p:cNvSpPr/>
            <p:nvPr/>
          </p:nvSpPr>
          <p:spPr>
            <a:xfrm rot="13500593">
              <a:off x="2141181" y="5797398"/>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 name="文本框 1"/>
          <p:cNvSpPr txBox="1"/>
          <p:nvPr/>
        </p:nvSpPr>
        <p:spPr>
          <a:xfrm>
            <a:off x="1837055" y="153035"/>
            <a:ext cx="10080625" cy="6492875"/>
          </a:xfrm>
          <a:prstGeom prst="rect">
            <a:avLst/>
          </a:prstGeom>
          <a:noFill/>
        </p:spPr>
        <p:txBody>
          <a:bodyPr wrap="square">
            <a:spAutoFit/>
          </a:bodyPr>
          <a:lstStyle/>
          <a:p>
            <a:pPr algn="ctr" fontAlgn="ctr"/>
            <a:endParaRPr lang="en-GB" altLang="en-US" sz="4800" dirty="0">
              <a:solidFill>
                <a:schemeClr val="bg1"/>
              </a:solidFill>
              <a:effectLst/>
              <a:latin typeface="+mj-lt"/>
              <a:ea typeface="Arial" panose="020B0604020202020204" pitchFamily="34" charset="0"/>
              <a:sym typeface="+mn-ea"/>
            </a:endParaRPr>
          </a:p>
          <a:p>
            <a:pPr algn="ctr" fontAlgn="ctr"/>
            <a:r>
              <a:rPr lang="en-GB" altLang="en-US" sz="4800" dirty="0">
                <a:solidFill>
                  <a:schemeClr val="bg1"/>
                </a:solidFill>
                <a:effectLst/>
                <a:latin typeface="+mj-lt"/>
                <a:ea typeface="Arial" panose="020B0604020202020204" pitchFamily="34" charset="0"/>
                <a:sym typeface="+mn-ea"/>
              </a:rPr>
              <a:t>Addis Ababa University</a:t>
            </a:r>
            <a:r>
              <a:rPr lang="en-US" altLang="en-US" sz="4800" dirty="0">
                <a:solidFill>
                  <a:schemeClr val="bg1"/>
                </a:solidFill>
                <a:effectLst/>
                <a:latin typeface="+mj-lt"/>
                <a:ea typeface="Arial" panose="020B0604020202020204" pitchFamily="34" charset="0"/>
                <a:sym typeface="+mn-ea"/>
              </a:rPr>
              <a:t> </a:t>
            </a:r>
            <a:endParaRPr lang="en-US" altLang="en-US" sz="2800" b="0" i="0" u="none" strike="noStrike" dirty="0">
              <a:solidFill>
                <a:schemeClr val="bg1"/>
              </a:solidFill>
              <a:effectLst/>
              <a:latin typeface="+mj-lt"/>
              <a:ea typeface="Arial" panose="020B0604020202020204" pitchFamily="34" charset="0"/>
            </a:endParaRPr>
          </a:p>
          <a:p>
            <a:pPr algn="ctr" fontAlgn="ctr"/>
            <a:r>
              <a:rPr lang="en-US" altLang="en-US" sz="4800" dirty="0">
                <a:solidFill>
                  <a:schemeClr val="bg1"/>
                </a:solidFill>
                <a:effectLst/>
                <a:latin typeface="+mj-lt"/>
                <a:ea typeface="Arial" panose="020B0604020202020204" pitchFamily="34" charset="0"/>
                <a:sym typeface="+mn-ea"/>
              </a:rPr>
              <a:t>Intelligent AI and Data Engineering</a:t>
            </a:r>
            <a:endParaRPr lang="en-US" altLang="en-US" sz="2800" b="0" i="0" u="none" strike="noStrike" dirty="0">
              <a:solidFill>
                <a:schemeClr val="bg1"/>
              </a:solidFill>
              <a:effectLst/>
              <a:latin typeface="+mj-lt"/>
              <a:ea typeface="Arial" panose="020B0604020202020204" pitchFamily="34" charset="0"/>
            </a:endParaRPr>
          </a:p>
          <a:p>
            <a:pPr algn="ctr" fontAlgn="ctr"/>
            <a:r>
              <a:rPr lang="en-US" altLang="en-US" sz="4800" b="1" i="0" u="none" strike="noStrike" dirty="0">
                <a:solidFill>
                  <a:schemeClr val="bg1"/>
                </a:solidFill>
                <a:effectLst/>
                <a:latin typeface="+mj-lt"/>
                <a:ea typeface="Arial" panose="020B0604020202020204" pitchFamily="34" charset="0"/>
              </a:rPr>
              <a:t>Used Car Price Prediction</a:t>
            </a:r>
            <a:endParaRPr lang="en-US" altLang="en-US" sz="4800" b="1" i="0" u="none" strike="noStrike" dirty="0">
              <a:solidFill>
                <a:schemeClr val="bg1"/>
              </a:solidFill>
              <a:effectLst/>
              <a:latin typeface="+mj-lt"/>
              <a:ea typeface="Arial" panose="020B0604020202020204" pitchFamily="34" charset="0"/>
            </a:endParaRPr>
          </a:p>
          <a:p>
            <a:pPr algn="ctr" fontAlgn="ctr"/>
            <a:endParaRPr lang="en-GB" altLang="en-US" sz="4800" b="0" i="0" u="none" strike="noStrike" dirty="0">
              <a:solidFill>
                <a:schemeClr val="bg1"/>
              </a:solidFill>
              <a:effectLst/>
              <a:latin typeface="+mj-lt"/>
              <a:ea typeface="Arial" panose="020B0604020202020204" pitchFamily="34" charset="0"/>
            </a:endParaRPr>
          </a:p>
          <a:p>
            <a:pPr algn="ctr" fontAlgn="ctr"/>
            <a:r>
              <a:rPr lang="en-GB" altLang="en-US" sz="4800" dirty="0">
                <a:solidFill>
                  <a:schemeClr val="bg1"/>
                </a:solidFill>
                <a:effectLst/>
                <a:latin typeface="+mj-lt"/>
                <a:ea typeface="Arial" panose="020B0604020202020204" pitchFamily="34" charset="0"/>
                <a:sym typeface="+mn-ea"/>
              </a:rPr>
              <a:t>Presenter : Nigus Admas</a:t>
            </a:r>
            <a:endParaRPr lang="en-GB" altLang="en-US" sz="4800" b="0" i="0" u="none" strike="noStrike" dirty="0">
              <a:solidFill>
                <a:schemeClr val="bg1"/>
              </a:solidFill>
              <a:effectLst/>
              <a:latin typeface="+mj-lt"/>
              <a:ea typeface="Arial" panose="020B0604020202020204" pitchFamily="34" charset="0"/>
            </a:endParaRPr>
          </a:p>
          <a:p>
            <a:pPr algn="ctr" fontAlgn="ctr"/>
            <a:endParaRPr lang="en-US" altLang="en-US" sz="4800" b="1" i="0" u="none" strike="noStrike" dirty="0">
              <a:solidFill>
                <a:schemeClr val="bg1"/>
              </a:solidFill>
              <a:effectLst/>
              <a:latin typeface="+mj-lt"/>
              <a:ea typeface="Arial" panose="020B0604020202020204" pitchFamily="34" charset="0"/>
            </a:endParaRPr>
          </a:p>
          <a:p>
            <a:pPr marL="0" lvl="8" algn="r" fontAlgn="ctr"/>
            <a:r>
              <a:rPr lang="en-GB" altLang="en-US" sz="3200" dirty="0">
                <a:solidFill>
                  <a:schemeClr val="bg1"/>
                </a:solidFill>
                <a:effectLst/>
                <a:latin typeface="+mj-lt"/>
                <a:ea typeface="Arial" panose="020B0604020202020204" pitchFamily="34" charset="0"/>
                <a:sym typeface="+mn-ea"/>
              </a:rPr>
              <a:t>Date:8/3/2026G.c</a:t>
            </a:r>
            <a:endParaRPr lang="en-GB" altLang="en-US" sz="4800" b="0" i="0" u="none" strike="noStrike" dirty="0">
              <a:solidFill>
                <a:schemeClr val="bg1"/>
              </a:solidFill>
              <a:effectLst/>
              <a:latin typeface="+mj-lt"/>
              <a:ea typeface="Arial" panose="020B0604020202020204" pitchFamily="34" charset="0"/>
            </a:endParaRPr>
          </a:p>
          <a:p>
            <a:pPr algn="ctr" fontAlgn="ctr"/>
            <a:endParaRPr lang="en-US" altLang="en-US" sz="4800" b="1" i="0" u="none" strike="noStrike" dirty="0">
              <a:solidFill>
                <a:schemeClr val="bg1"/>
              </a:solidFill>
              <a:effectLst/>
              <a:latin typeface="+mj-lt"/>
              <a:ea typeface="Arial" panose="020B0604020202020204" pitchFamily="34" charset="0"/>
            </a:endParaRPr>
          </a:p>
        </p:txBody>
      </p:sp>
      <p:cxnSp>
        <p:nvCxnSpPr>
          <p:cNvPr id="102" name="直接连接符 101"/>
          <p:cNvCxnSpPr/>
          <p:nvPr/>
        </p:nvCxnSpPr>
        <p:spPr>
          <a:xfrm>
            <a:off x="719138" y="2644008"/>
            <a:ext cx="4169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AA"/>
          <p:cNvPicPr>
            <a:picLocks noChangeAspect="1"/>
          </p:cNvPicPr>
          <p:nvPr/>
        </p:nvPicPr>
        <p:blipFill>
          <a:blip r:embed="rId5"/>
          <a:stretch>
            <a:fillRect/>
          </a:stretch>
        </p:blipFill>
        <p:spPr>
          <a:xfrm>
            <a:off x="479425" y="0"/>
            <a:ext cx="1357630" cy="1107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8000">
              <a:srgbClr val="190985"/>
            </a:gs>
            <a:gs pos="100000">
              <a:srgbClr val="1B59A7"/>
            </a:gs>
          </a:gsLst>
          <a:lin ang="16200000" scaled="1"/>
        </a:gradFill>
        <a:effectLst/>
      </p:bgPr>
    </p:bg>
    <p:spTree>
      <p:nvGrpSpPr>
        <p:cNvPr id="1" name=""/>
        <p:cNvGrpSpPr/>
        <p:nvPr/>
      </p:nvGrpSpPr>
      <p:grpSpPr>
        <a:xfrm>
          <a:off x="0" y="0"/>
          <a:ext cx="0" cy="0"/>
          <a:chOff x="0" y="0"/>
          <a:chExt cx="0" cy="0"/>
        </a:xfrm>
      </p:grpSpPr>
      <p:sp>
        <p:nvSpPr>
          <p:cNvPr id="16" name="任意多边形: 形状 15"/>
          <p:cNvSpPr/>
          <p:nvPr/>
        </p:nvSpPr>
        <p:spPr>
          <a:xfrm>
            <a:off x="0" y="2153890"/>
            <a:ext cx="12192000" cy="4704110"/>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3" name="图片 32"/>
          <p:cNvPicPr>
            <a:picLocks noChangeAspect="1"/>
          </p:cNvPicPr>
          <p:nvPr/>
        </p:nvPicPr>
        <p:blipFill>
          <a:blip r:embed="rId1">
            <a:alphaModFix amt="59000"/>
          </a:blip>
          <a:srcRect l="45982" b="55199"/>
          <a:stretch>
            <a:fillRect/>
          </a:stretch>
        </p:blipFill>
        <p:spPr>
          <a:xfrm>
            <a:off x="0" y="4544564"/>
            <a:ext cx="4531465" cy="2313436"/>
          </a:xfrm>
          <a:custGeom>
            <a:avLst/>
            <a:gdLst>
              <a:gd name="connsiteX0" fmla="*/ 0 w 4531465"/>
              <a:gd name="connsiteY0" fmla="*/ 0 h 2313436"/>
              <a:gd name="connsiteX1" fmla="*/ 4531465 w 4531465"/>
              <a:gd name="connsiteY1" fmla="*/ 0 h 2313436"/>
              <a:gd name="connsiteX2" fmla="*/ 4531465 w 4531465"/>
              <a:gd name="connsiteY2" fmla="*/ 2313436 h 2313436"/>
              <a:gd name="connsiteX3" fmla="*/ 0 w 4531465"/>
              <a:gd name="connsiteY3" fmla="*/ 2313436 h 2313436"/>
            </a:gdLst>
            <a:ahLst/>
            <a:cxnLst>
              <a:cxn ang="0">
                <a:pos x="connsiteX0" y="connsiteY0"/>
              </a:cxn>
              <a:cxn ang="0">
                <a:pos x="connsiteX1" y="connsiteY1"/>
              </a:cxn>
              <a:cxn ang="0">
                <a:pos x="connsiteX2" y="connsiteY2"/>
              </a:cxn>
              <a:cxn ang="0">
                <a:pos x="connsiteX3" y="connsiteY3"/>
              </a:cxn>
            </a:cxnLst>
            <a:rect l="l" t="t" r="r" b="b"/>
            <a:pathLst>
              <a:path w="4531465" h="2313436">
                <a:moveTo>
                  <a:pt x="0" y="0"/>
                </a:moveTo>
                <a:lnTo>
                  <a:pt x="4531465" y="0"/>
                </a:lnTo>
                <a:lnTo>
                  <a:pt x="4531465" y="2313436"/>
                </a:lnTo>
                <a:lnTo>
                  <a:pt x="0" y="2313436"/>
                </a:lnTo>
                <a:close/>
              </a:path>
            </a:pathLst>
          </a:custGeom>
        </p:spPr>
      </p:pic>
      <p:pic>
        <p:nvPicPr>
          <p:cNvPr id="26" name="图片 25"/>
          <p:cNvPicPr>
            <a:picLocks noChangeAspect="1"/>
          </p:cNvPicPr>
          <p:nvPr/>
        </p:nvPicPr>
        <p:blipFill rotWithShape="1">
          <a:blip r:embed="rId2"/>
          <a:srcRect t="1" r="19702" b="36981"/>
          <a:stretch>
            <a:fillRect/>
          </a:stretch>
        </p:blipFill>
        <p:spPr>
          <a:xfrm rot="1081131">
            <a:off x="3456862" y="1268601"/>
            <a:ext cx="9149475" cy="7180589"/>
          </a:xfrm>
          <a:custGeom>
            <a:avLst/>
            <a:gdLst>
              <a:gd name="connsiteX0" fmla="*/ 0 w 9149475"/>
              <a:gd name="connsiteY0" fmla="*/ 0 h 7180589"/>
              <a:gd name="connsiteX1" fmla="*/ 7781847 w 9149475"/>
              <a:gd name="connsiteY1" fmla="*/ 0 h 7180589"/>
              <a:gd name="connsiteX2" fmla="*/ 9149475 w 9149475"/>
              <a:gd name="connsiteY2" fmla="*/ 4204417 h 7180589"/>
              <a:gd name="connsiteX3" fmla="*/ 0 w 9149475"/>
              <a:gd name="connsiteY3" fmla="*/ 7180589 h 7180589"/>
            </a:gdLst>
            <a:ahLst/>
            <a:cxnLst>
              <a:cxn ang="0">
                <a:pos x="connsiteX0" y="connsiteY0"/>
              </a:cxn>
              <a:cxn ang="0">
                <a:pos x="connsiteX1" y="connsiteY1"/>
              </a:cxn>
              <a:cxn ang="0">
                <a:pos x="connsiteX2" y="connsiteY2"/>
              </a:cxn>
              <a:cxn ang="0">
                <a:pos x="connsiteX3" y="connsiteY3"/>
              </a:cxn>
            </a:cxnLst>
            <a:rect l="l" t="t" r="r" b="b"/>
            <a:pathLst>
              <a:path w="9149475" h="7180589">
                <a:moveTo>
                  <a:pt x="0" y="0"/>
                </a:moveTo>
                <a:lnTo>
                  <a:pt x="7781847" y="0"/>
                </a:lnTo>
                <a:lnTo>
                  <a:pt x="9149475" y="4204417"/>
                </a:lnTo>
                <a:lnTo>
                  <a:pt x="0" y="7180589"/>
                </a:lnTo>
                <a:close/>
              </a:path>
            </a:pathLst>
          </a:custGeom>
        </p:spPr>
      </p:pic>
      <p:sp>
        <p:nvSpPr>
          <p:cNvPr id="12" name="文本框 11"/>
          <p:cNvSpPr txBox="1"/>
          <p:nvPr/>
        </p:nvSpPr>
        <p:spPr>
          <a:xfrm>
            <a:off x="4822205" y="667177"/>
            <a:ext cx="3384619" cy="830997"/>
          </a:xfrm>
          <a:prstGeom prst="rect">
            <a:avLst/>
          </a:prstGeom>
          <a:noFill/>
        </p:spPr>
        <p:txBody>
          <a:bodyPr wrap="square">
            <a:spAutoFit/>
          </a:bodyPr>
          <a:lstStyle>
            <a:defPPr>
              <a:defRPr lang="zh-CN"/>
            </a:defPPr>
            <a:lvl1pPr fontAlgn="ctr">
              <a:defRPr sz="4800" b="0" i="0" u="none" strike="noStrike">
                <a:solidFill>
                  <a:schemeClr val="bg1"/>
                </a:solidFill>
                <a:effectLst/>
                <a:latin typeface="+mj-lt"/>
                <a:ea typeface="Microsoft YaHei" panose="020B0503020204020204" pitchFamily="34" charset="-122"/>
              </a:defRPr>
            </a:lvl1pPr>
          </a:lstStyle>
          <a:p>
            <a:pPr algn="ctr"/>
            <a:r>
              <a:rPr lang="en-US" altLang="zh-CN" dirty="0">
                <a:ea typeface="Arial" panose="020B0604020202020204" pitchFamily="34" charset="0"/>
              </a:rPr>
              <a:t>CONTENTS</a:t>
            </a:r>
            <a:endParaRPr lang="zh-CN" altLang="en-US" dirty="0">
              <a:ea typeface="Arial" panose="020B0604020202020204" pitchFamily="34" charset="0"/>
            </a:endParaRPr>
          </a:p>
        </p:txBody>
      </p:sp>
      <p:grpSp>
        <p:nvGrpSpPr>
          <p:cNvPr id="64" name="组合 63"/>
          <p:cNvGrpSpPr/>
          <p:nvPr/>
        </p:nvGrpSpPr>
        <p:grpSpPr>
          <a:xfrm>
            <a:off x="5752586" y="1823359"/>
            <a:ext cx="686827" cy="686827"/>
            <a:chOff x="1984442" y="5680952"/>
            <a:chExt cx="476655" cy="476655"/>
          </a:xfrm>
        </p:grpSpPr>
        <p:sp>
          <p:nvSpPr>
            <p:cNvPr id="65" name="椭圆 64"/>
            <p:cNvSpPr/>
            <p:nvPr/>
          </p:nvSpPr>
          <p:spPr>
            <a:xfrm>
              <a:off x="1984442" y="5680952"/>
              <a:ext cx="476655" cy="476655"/>
            </a:xfrm>
            <a:prstGeom prst="ellipse">
              <a:avLst/>
            </a:prstGeom>
            <a:solidFill>
              <a:srgbClr val="AF2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半闭框 65"/>
            <p:cNvSpPr/>
            <p:nvPr/>
          </p:nvSpPr>
          <p:spPr>
            <a:xfrm rot="13500593">
              <a:off x="2150860" y="5797397"/>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4" name="Text Box 13"/>
          <p:cNvSpPr txBox="1"/>
          <p:nvPr/>
        </p:nvSpPr>
        <p:spPr>
          <a:xfrm>
            <a:off x="152400" y="2324100"/>
            <a:ext cx="5295900" cy="3722370"/>
          </a:xfrm>
          <a:prstGeom prst="rect">
            <a:avLst/>
          </a:prstGeom>
          <a:noFill/>
        </p:spPr>
        <p:txBody>
          <a:bodyPr wrap="square" rtlCol="0">
            <a:noAutofit/>
          </a:bodyPr>
          <a:p>
            <a:pPr marL="285750" indent="-28575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Background and Problem Statement</a:t>
            </a:r>
            <a:endParaRPr lang="en-US" altLang="en-US" sz="3200">
              <a:solidFill>
                <a:schemeClr val="bg1"/>
              </a:solidFill>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Project Objectives</a:t>
            </a:r>
            <a:endParaRPr lang="en-US" altLang="en-US" sz="3200">
              <a:solidFill>
                <a:schemeClr val="bg1"/>
              </a:solidFill>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Dataset Description</a:t>
            </a:r>
            <a:endParaRPr lang="en-US" altLang="en-US" sz="3200">
              <a:solidFill>
                <a:schemeClr val="bg1"/>
              </a:solidFill>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Data Preprocessing</a:t>
            </a:r>
            <a:endParaRPr lang="en-US" altLang="en-US" sz="3200">
              <a:solidFill>
                <a:schemeClr val="bg1"/>
              </a:solidFill>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Exploratory Data Analysis</a:t>
            </a:r>
            <a:endParaRPr lang="en-US" altLang="en-US" sz="3200">
              <a:solidFill>
                <a:schemeClr val="bg1"/>
              </a:solidFill>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Feature Engineering</a:t>
            </a:r>
            <a:endParaRPr lang="en-US" altLang="en-US" sz="3200">
              <a:solidFill>
                <a:schemeClr val="bg1"/>
              </a:solidFill>
              <a:latin typeface="Times New Roman" panose="02020603050405020304" charset="0"/>
              <a:cs typeface="Times New Roman" panose="02020603050405020304" charset="0"/>
            </a:endParaRPr>
          </a:p>
        </p:txBody>
      </p:sp>
      <p:sp>
        <p:nvSpPr>
          <p:cNvPr id="15" name="Text Box 14"/>
          <p:cNvSpPr txBox="1"/>
          <p:nvPr/>
        </p:nvSpPr>
        <p:spPr>
          <a:xfrm>
            <a:off x="5765800" y="2667000"/>
            <a:ext cx="5651500" cy="3593465"/>
          </a:xfrm>
          <a:prstGeom prst="rect">
            <a:avLst/>
          </a:prstGeom>
          <a:noFill/>
        </p:spPr>
        <p:txBody>
          <a:bodyPr wrap="square" rtlCol="0">
            <a:noAutofit/>
          </a:bodyPr>
          <a:p>
            <a:pPr marL="457200" indent="-45720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Machine Learning Models</a:t>
            </a:r>
            <a:endParaRPr lang="en-US" altLang="en-US" sz="3200">
              <a:solidFill>
                <a:schemeClr val="bg1"/>
              </a:solidFill>
              <a:latin typeface="Times New Roman" panose="02020603050405020304" charset="0"/>
              <a:cs typeface="Times New Roman" panose="02020603050405020304" charset="0"/>
            </a:endParaRPr>
          </a:p>
          <a:p>
            <a:pPr marL="457200" indent="-45720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Model Evaluation</a:t>
            </a:r>
            <a:endParaRPr lang="en-US" altLang="en-US" sz="3200">
              <a:solidFill>
                <a:schemeClr val="bg1"/>
              </a:solidFill>
              <a:latin typeface="Times New Roman" panose="02020603050405020304" charset="0"/>
              <a:cs typeface="Times New Roman" panose="02020603050405020304" charset="0"/>
            </a:endParaRPr>
          </a:p>
          <a:p>
            <a:pPr marL="457200" indent="-45720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Web Application Development</a:t>
            </a:r>
            <a:endParaRPr lang="en-US" altLang="en-US" sz="3200">
              <a:solidFill>
                <a:schemeClr val="bg1"/>
              </a:solidFill>
              <a:latin typeface="Times New Roman" panose="02020603050405020304" charset="0"/>
              <a:cs typeface="Times New Roman" panose="02020603050405020304" charset="0"/>
            </a:endParaRPr>
          </a:p>
          <a:p>
            <a:pPr marL="457200" indent="-45720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Results and Discussion</a:t>
            </a:r>
            <a:endParaRPr lang="en-US" altLang="en-US" sz="3200">
              <a:solidFill>
                <a:schemeClr val="bg1"/>
              </a:solidFill>
              <a:latin typeface="Times New Roman" panose="02020603050405020304" charset="0"/>
              <a:cs typeface="Times New Roman" panose="02020603050405020304" charset="0"/>
            </a:endParaRPr>
          </a:p>
          <a:p>
            <a:pPr marL="457200" indent="-457200">
              <a:buFont typeface="Wingdings" panose="05000000000000000000" charset="0"/>
              <a:buChar char="Ø"/>
            </a:pPr>
            <a:r>
              <a:rPr lang="en-US" altLang="en-US" sz="3200">
                <a:solidFill>
                  <a:schemeClr val="bg1"/>
                </a:solidFill>
                <a:latin typeface="Times New Roman" panose="02020603050405020304" charset="0"/>
                <a:cs typeface="Times New Roman" panose="02020603050405020304" charset="0"/>
              </a:rPr>
              <a:t>Conclusion and Future Work</a:t>
            </a:r>
            <a:endParaRPr lang="en-US" altLang="en-US" sz="32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8000">
              <a:srgbClr val="190985"/>
            </a:gs>
            <a:gs pos="100000">
              <a:srgbClr val="1B59A7"/>
            </a:gs>
          </a:gsLst>
          <a:lin ang="16200000" scaled="1"/>
        </a:gradFill>
        <a:effectLst/>
      </p:bgPr>
    </p:bg>
    <p:spTree>
      <p:nvGrpSpPr>
        <p:cNvPr id="1" name=""/>
        <p:cNvGrpSpPr/>
        <p:nvPr/>
      </p:nvGrpSpPr>
      <p:grpSpPr>
        <a:xfrm>
          <a:off x="0" y="0"/>
          <a:ext cx="0" cy="0"/>
          <a:chOff x="0" y="0"/>
          <a:chExt cx="0" cy="0"/>
        </a:xfrm>
      </p:grpSpPr>
      <p:pic>
        <p:nvPicPr>
          <p:cNvPr id="40" name="图片 39"/>
          <p:cNvPicPr>
            <a:picLocks noChangeAspect="1"/>
          </p:cNvPicPr>
          <p:nvPr/>
        </p:nvPicPr>
        <p:blipFill>
          <a:blip r:embed="rId1"/>
          <a:srcRect r="24556" b="42640"/>
          <a:stretch>
            <a:fillRect/>
          </a:stretch>
        </p:blipFill>
        <p:spPr>
          <a:xfrm>
            <a:off x="7536125" y="3318155"/>
            <a:ext cx="4655875" cy="3539845"/>
          </a:xfrm>
          <a:custGeom>
            <a:avLst/>
            <a:gdLst>
              <a:gd name="connsiteX0" fmla="*/ 0 w 8596428"/>
              <a:gd name="connsiteY0" fmla="*/ 0 h 6535834"/>
              <a:gd name="connsiteX1" fmla="*/ 8596428 w 8596428"/>
              <a:gd name="connsiteY1" fmla="*/ 0 h 6535834"/>
              <a:gd name="connsiteX2" fmla="*/ 8596428 w 8596428"/>
              <a:gd name="connsiteY2" fmla="*/ 6535834 h 6535834"/>
              <a:gd name="connsiteX3" fmla="*/ 0 w 8596428"/>
              <a:gd name="connsiteY3" fmla="*/ 6535834 h 6535834"/>
            </a:gdLst>
            <a:ahLst/>
            <a:cxnLst>
              <a:cxn ang="0">
                <a:pos x="connsiteX0" y="connsiteY0"/>
              </a:cxn>
              <a:cxn ang="0">
                <a:pos x="connsiteX1" y="connsiteY1"/>
              </a:cxn>
              <a:cxn ang="0">
                <a:pos x="connsiteX2" y="connsiteY2"/>
              </a:cxn>
              <a:cxn ang="0">
                <a:pos x="connsiteX3" y="connsiteY3"/>
              </a:cxn>
            </a:cxnLst>
            <a:rect l="l" t="t" r="r" b="b"/>
            <a:pathLst>
              <a:path w="8596428" h="6535834">
                <a:moveTo>
                  <a:pt x="0" y="0"/>
                </a:moveTo>
                <a:lnTo>
                  <a:pt x="8596428" y="0"/>
                </a:lnTo>
                <a:lnTo>
                  <a:pt x="8596428" y="6535834"/>
                </a:lnTo>
                <a:lnTo>
                  <a:pt x="0" y="6535834"/>
                </a:lnTo>
                <a:close/>
              </a:path>
            </a:pathLst>
          </a:custGeom>
        </p:spPr>
      </p:pic>
      <p:sp>
        <p:nvSpPr>
          <p:cNvPr id="27" name="任意多边形: 形状 26"/>
          <p:cNvSpPr/>
          <p:nvPr/>
        </p:nvSpPr>
        <p:spPr>
          <a:xfrm>
            <a:off x="0" y="5787958"/>
            <a:ext cx="12192000" cy="1070042"/>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文本框 6"/>
          <p:cNvSpPr txBox="1"/>
          <p:nvPr/>
        </p:nvSpPr>
        <p:spPr>
          <a:xfrm>
            <a:off x="620395" y="2196465"/>
            <a:ext cx="10163175" cy="3020060"/>
          </a:xfrm>
          <a:prstGeom prst="rect">
            <a:avLst/>
          </a:prstGeom>
          <a:noFill/>
        </p:spPr>
        <p:txBody>
          <a:bodyPr wrap="square">
            <a:noAutofit/>
          </a:bodyPr>
          <a:lstStyle/>
          <a:p>
            <a:pPr marL="342900" indent="-342900" fontAlgn="ctr">
              <a:buFont typeface="Wingdings" panose="05000000000000000000" charset="0"/>
              <a:buChar char="Ø"/>
            </a:pPr>
            <a:r>
              <a:rPr lang="en-US" altLang="en-US" sz="2000" b="0" i="0" u="none" strike="noStrike" dirty="0">
                <a:solidFill>
                  <a:schemeClr val="bg1"/>
                </a:solidFill>
                <a:effectLst/>
                <a:latin typeface="+mj-lt"/>
                <a:ea typeface="Arial" panose="020B0604020202020204" pitchFamily="34" charset="0"/>
              </a:rPr>
              <a:t>The used car market has expanded rapidly due to increasing demand for affordable transportation. However, determining the correct selling price of a used vehicle remains challenging because many factors such as vehicle age, mileage, fuel type, transmission, engine capacity, and brand influence its value.</a:t>
            </a:r>
            <a:endParaRPr lang="en-US" altLang="en-US" sz="2000" b="0" i="0" u="none" strike="noStrike" dirty="0">
              <a:solidFill>
                <a:schemeClr val="bg1"/>
              </a:solidFill>
              <a:effectLst/>
              <a:latin typeface="+mj-lt"/>
              <a:ea typeface="Arial" panose="020B0604020202020204" pitchFamily="34" charset="0"/>
            </a:endParaRPr>
          </a:p>
          <a:p>
            <a:pPr indent="0" fontAlgn="ctr">
              <a:buFont typeface="Wingdings" panose="05000000000000000000" charset="0"/>
              <a:buNone/>
            </a:pPr>
            <a:endParaRPr lang="en-US" altLang="en-US" sz="1800" b="0" i="0" u="none" strike="noStrike" dirty="0">
              <a:solidFill>
                <a:schemeClr val="bg1"/>
              </a:solidFill>
              <a:effectLst/>
              <a:latin typeface="+mj-lt"/>
              <a:ea typeface="Arial" panose="020B0604020202020204" pitchFamily="34" charset="0"/>
            </a:endParaRPr>
          </a:p>
          <a:p>
            <a:pPr marL="342900" indent="-342900" fontAlgn="ctr">
              <a:buFont typeface="Wingdings" panose="05000000000000000000" charset="0"/>
              <a:buChar char="Ø"/>
            </a:pPr>
            <a:r>
              <a:rPr lang="en-US" altLang="en-US" sz="2000" b="0" i="0" u="none" strike="noStrike" dirty="0">
                <a:solidFill>
                  <a:schemeClr val="bg1"/>
                </a:solidFill>
                <a:effectLst/>
                <a:latin typeface="+mj-lt"/>
                <a:ea typeface="Arial" panose="020B0604020202020204" pitchFamily="34" charset="0"/>
              </a:rPr>
              <a:t>Traditional pricing methods rely heavily on personal experience and manual comparison, which often produce inconsistent and inaccurate estimates. Machine Learning offers an intelligent alternative by learning patterns from historical sales data to predict vehicle prices with greater accuracy and consistency.</a:t>
            </a:r>
            <a:endParaRPr lang="en-US" altLang="en-US" sz="2000" b="0" i="0" u="none" strike="noStrike" dirty="0">
              <a:solidFill>
                <a:schemeClr val="bg1"/>
              </a:solidFill>
              <a:effectLst/>
              <a:latin typeface="+mj-lt"/>
              <a:ea typeface="Arial" panose="020B0604020202020204" pitchFamily="34" charset="0"/>
            </a:endParaRPr>
          </a:p>
          <a:p>
            <a:pPr indent="0" fontAlgn="ctr">
              <a:buFont typeface="Wingdings" panose="05000000000000000000" charset="0"/>
              <a:buNone/>
            </a:pPr>
            <a:endParaRPr lang="en-US" altLang="en-US" sz="2000" b="0" i="0" u="none" strike="noStrike" dirty="0">
              <a:solidFill>
                <a:schemeClr val="bg1"/>
              </a:solidFill>
              <a:effectLst/>
              <a:latin typeface="+mj-lt"/>
              <a:ea typeface="Arial" panose="020B0604020202020204" pitchFamily="34" charset="0"/>
            </a:endParaRPr>
          </a:p>
        </p:txBody>
      </p:sp>
      <p:sp>
        <p:nvSpPr>
          <p:cNvPr id="2" name="文本框 1"/>
          <p:cNvSpPr txBox="1"/>
          <p:nvPr/>
        </p:nvSpPr>
        <p:spPr>
          <a:xfrm>
            <a:off x="1550493" y="949480"/>
            <a:ext cx="11216844" cy="1015663"/>
          </a:xfrm>
          <a:prstGeom prst="rect">
            <a:avLst/>
          </a:prstGeom>
          <a:noFill/>
        </p:spPr>
        <p:txBody>
          <a:bodyPr wrap="square">
            <a:spAutoFit/>
          </a:bodyPr>
          <a:lstStyle/>
          <a:p>
            <a:r>
              <a:rPr lang="en-US" altLang="zh-CN" sz="6000" dirty="0">
                <a:solidFill>
                  <a:schemeClr val="bg1"/>
                </a:solidFill>
                <a:latin typeface="+mj-lt"/>
                <a:ea typeface="Gilroy" panose="00000400000000000000" charset="0"/>
              </a:rPr>
              <a:t>Background significance</a:t>
            </a:r>
            <a:endParaRPr lang="zh-CN" altLang="en-US" sz="6000" dirty="0">
              <a:solidFill>
                <a:schemeClr val="bg1"/>
              </a:solidFill>
              <a:latin typeface="+mj-lt"/>
              <a:ea typeface="Gilroy" panose="00000400000000000000" charset="0"/>
            </a:endParaRPr>
          </a:p>
        </p:txBody>
      </p:sp>
      <p:sp>
        <p:nvSpPr>
          <p:cNvPr id="12" name="文本框 11"/>
          <p:cNvSpPr txBox="1"/>
          <p:nvPr/>
        </p:nvSpPr>
        <p:spPr>
          <a:xfrm>
            <a:off x="673519" y="348000"/>
            <a:ext cx="1304596" cy="276999"/>
          </a:xfrm>
          <a:prstGeom prst="rect">
            <a:avLst/>
          </a:prstGeom>
          <a:noFill/>
        </p:spPr>
        <p:txBody>
          <a:bodyPr wrap="square">
            <a:spAutoFit/>
          </a:bodyPr>
          <a:lstStyle/>
          <a:p>
            <a:r>
              <a:rPr lang="en-US" altLang="zh-CN" sz="1200" dirty="0">
                <a:solidFill>
                  <a:schemeClr val="bg1"/>
                </a:solidFill>
                <a:latin typeface="+mj-lt"/>
              </a:rPr>
              <a:t>YOUR  LOGO</a:t>
            </a:r>
            <a:endParaRPr lang="zh-CN" altLang="en-US" sz="1200" dirty="0">
              <a:solidFill>
                <a:schemeClr val="bg1"/>
              </a:solidFill>
              <a:latin typeface="+mj-lt"/>
            </a:endParaRPr>
          </a:p>
        </p:txBody>
      </p:sp>
      <p:grpSp>
        <p:nvGrpSpPr>
          <p:cNvPr id="45" name="组合 44"/>
          <p:cNvGrpSpPr/>
          <p:nvPr/>
        </p:nvGrpSpPr>
        <p:grpSpPr>
          <a:xfrm>
            <a:off x="5788597" y="5447975"/>
            <a:ext cx="614806" cy="614806"/>
            <a:chOff x="1984442" y="5680952"/>
            <a:chExt cx="476655" cy="476655"/>
          </a:xfrm>
        </p:grpSpPr>
        <p:sp>
          <p:nvSpPr>
            <p:cNvPr id="28" name="椭圆 27"/>
            <p:cNvSpPr/>
            <p:nvPr/>
          </p:nvSpPr>
          <p:spPr>
            <a:xfrm>
              <a:off x="1984442" y="5680952"/>
              <a:ext cx="476655" cy="476655"/>
            </a:xfrm>
            <a:prstGeom prst="ellipse">
              <a:avLst/>
            </a:prstGeom>
            <a:solidFill>
              <a:srgbClr val="AF2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半闭框 29"/>
            <p:cNvSpPr/>
            <p:nvPr/>
          </p:nvSpPr>
          <p:spPr>
            <a:xfrm rot="13500593">
              <a:off x="2150860" y="5797397"/>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2" name="文本框 31"/>
          <p:cNvSpPr txBox="1"/>
          <p:nvPr/>
        </p:nvSpPr>
        <p:spPr>
          <a:xfrm>
            <a:off x="10440574" y="6475719"/>
            <a:ext cx="2893925" cy="261610"/>
          </a:xfrm>
          <a:prstGeom prst="rect">
            <a:avLst/>
          </a:prstGeom>
          <a:noFill/>
        </p:spPr>
        <p:txBody>
          <a:bodyPr wrap="square">
            <a:spAutoFit/>
          </a:bodyPr>
          <a:lstStyle>
            <a:defPPr>
              <a:defRPr lang="zh-CN"/>
            </a:defPPr>
            <a:lvl1pPr fontAlgn="ctr">
              <a:defRPr sz="2000" b="0" i="0" u="none" strike="noStrike">
                <a:solidFill>
                  <a:srgbClr val="000000"/>
                </a:solidFill>
                <a:effectLst/>
                <a:latin typeface="+mj-lt"/>
                <a:ea typeface="Microsoft YaHei" panose="020B0503020204020204" pitchFamily="34" charset="-122"/>
              </a:defRPr>
            </a:lvl1pPr>
          </a:lstStyle>
          <a:p>
            <a:r>
              <a:rPr lang="en-US" altLang="zh-CN" sz="1100" dirty="0">
                <a:solidFill>
                  <a:schemeClr val="bg1"/>
                </a:solidFill>
                <a:ea typeface="Arial" panose="020B0604020202020204" pitchFamily="34" charset="0"/>
              </a:rPr>
              <a:t>PRESENTATION</a:t>
            </a:r>
            <a:endParaRPr lang="en-US" altLang="zh-CN" sz="1100" dirty="0">
              <a:solidFill>
                <a:schemeClr val="bg1"/>
              </a:solidFill>
              <a:ea typeface="Arial" panose="020B0604020202020204" pitchFamily="34" charset="0"/>
            </a:endParaRPr>
          </a:p>
        </p:txBody>
      </p:sp>
      <p:sp>
        <p:nvSpPr>
          <p:cNvPr id="34" name="文本框 33"/>
          <p:cNvSpPr txBox="1"/>
          <p:nvPr/>
        </p:nvSpPr>
        <p:spPr>
          <a:xfrm>
            <a:off x="620214" y="6474900"/>
            <a:ext cx="4255241" cy="261610"/>
          </a:xfrm>
          <a:prstGeom prst="rect">
            <a:avLst/>
          </a:prstGeom>
          <a:noFill/>
        </p:spPr>
        <p:txBody>
          <a:bodyPr wrap="square">
            <a:spAutoFit/>
          </a:bodyPr>
          <a:lstStyle>
            <a:defPPr>
              <a:defRPr lang="zh-CN"/>
            </a:defPPr>
            <a:lvl1pPr>
              <a:defRPr sz="1050"/>
            </a:lvl1pPr>
          </a:lstStyle>
          <a:p>
            <a:r>
              <a:rPr lang="en-US" altLang="zh-CN" sz="1100" dirty="0">
                <a:solidFill>
                  <a:schemeClr val="bg1"/>
                </a:solidFill>
              </a:rPr>
              <a:t>Graduate Thesis Defense PPT Template</a:t>
            </a:r>
            <a:endParaRPr lang="en-US" altLang="zh-CN" sz="1100" dirty="0">
              <a:solidFill>
                <a:schemeClr val="bg1"/>
              </a:solidFill>
            </a:endParaRPr>
          </a:p>
        </p:txBody>
      </p:sp>
      <p:pic>
        <p:nvPicPr>
          <p:cNvPr id="39" name="图片 38"/>
          <p:cNvPicPr>
            <a:picLocks noChangeAspect="1"/>
          </p:cNvPicPr>
          <p:nvPr/>
        </p:nvPicPr>
        <p:blipFill rotWithShape="1">
          <a:blip r:embed="rId2"/>
          <a:srcRect l="36713" t="47403" b="12967"/>
          <a:stretch>
            <a:fillRect/>
          </a:stretch>
        </p:blipFill>
        <p:spPr>
          <a:xfrm>
            <a:off x="0" y="-26220"/>
            <a:ext cx="4286250" cy="2682924"/>
          </a:xfrm>
          <a:custGeom>
            <a:avLst/>
            <a:gdLst>
              <a:gd name="connsiteX0" fmla="*/ 0 w 4819031"/>
              <a:gd name="connsiteY0" fmla="*/ 0 h 3016412"/>
              <a:gd name="connsiteX1" fmla="*/ 4819031 w 4819031"/>
              <a:gd name="connsiteY1" fmla="*/ 0 h 3016412"/>
              <a:gd name="connsiteX2" fmla="*/ 4819031 w 4819031"/>
              <a:gd name="connsiteY2" fmla="*/ 3016412 h 3016412"/>
              <a:gd name="connsiteX3" fmla="*/ 0 w 4819031"/>
              <a:gd name="connsiteY3" fmla="*/ 3016412 h 3016412"/>
            </a:gdLst>
            <a:ahLst/>
            <a:cxnLst>
              <a:cxn ang="0">
                <a:pos x="connsiteX0" y="connsiteY0"/>
              </a:cxn>
              <a:cxn ang="0">
                <a:pos x="connsiteX1" y="connsiteY1"/>
              </a:cxn>
              <a:cxn ang="0">
                <a:pos x="connsiteX2" y="connsiteY2"/>
              </a:cxn>
              <a:cxn ang="0">
                <a:pos x="connsiteX3" y="connsiteY3"/>
              </a:cxn>
            </a:cxnLst>
            <a:rect l="l" t="t" r="r" b="b"/>
            <a:pathLst>
              <a:path w="4819031" h="3016412">
                <a:moveTo>
                  <a:pt x="0" y="0"/>
                </a:moveTo>
                <a:lnTo>
                  <a:pt x="4819031" y="0"/>
                </a:lnTo>
                <a:lnTo>
                  <a:pt x="4819031" y="3016412"/>
                </a:lnTo>
                <a:lnTo>
                  <a:pt x="0" y="3016412"/>
                </a:lnTo>
                <a:close/>
              </a:path>
            </a:pathLst>
          </a:cu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B56A6"/>
            </a:gs>
            <a:gs pos="76000">
              <a:srgbClr val="221195"/>
            </a:gs>
          </a:gsLst>
          <a:lin ang="5400000" scaled="1"/>
          <a:tileRect/>
        </a:gradFill>
        <a:effectLst/>
      </p:bgPr>
    </p:bg>
    <p:spTree>
      <p:nvGrpSpPr>
        <p:cNvPr id="1" name=""/>
        <p:cNvGrpSpPr/>
        <p:nvPr/>
      </p:nvGrpSpPr>
      <p:grpSpPr>
        <a:xfrm>
          <a:off x="0" y="0"/>
          <a:ext cx="0" cy="0"/>
          <a:chOff x="0" y="0"/>
          <a:chExt cx="0" cy="0"/>
        </a:xfrm>
      </p:grpSpPr>
      <p:sp>
        <p:nvSpPr>
          <p:cNvPr id="4" name="任意多边形: 形状 3"/>
          <p:cNvSpPr/>
          <p:nvPr/>
        </p:nvSpPr>
        <p:spPr>
          <a:xfrm>
            <a:off x="0" y="6828790"/>
            <a:ext cx="12192000" cy="76200"/>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18" name="图片 17"/>
          <p:cNvPicPr>
            <a:picLocks noChangeAspect="1"/>
          </p:cNvPicPr>
          <p:nvPr/>
        </p:nvPicPr>
        <p:blipFill>
          <a:blip r:embed="rId1"/>
          <a:srcRect r="24556" b="42640"/>
          <a:stretch>
            <a:fillRect/>
          </a:stretch>
        </p:blipFill>
        <p:spPr>
          <a:xfrm>
            <a:off x="8624794" y="4145867"/>
            <a:ext cx="3567206" cy="2712134"/>
          </a:xfrm>
          <a:custGeom>
            <a:avLst/>
            <a:gdLst>
              <a:gd name="connsiteX0" fmla="*/ 0 w 8596428"/>
              <a:gd name="connsiteY0" fmla="*/ 0 h 6535834"/>
              <a:gd name="connsiteX1" fmla="*/ 8596428 w 8596428"/>
              <a:gd name="connsiteY1" fmla="*/ 0 h 6535834"/>
              <a:gd name="connsiteX2" fmla="*/ 8596428 w 8596428"/>
              <a:gd name="connsiteY2" fmla="*/ 6535834 h 6535834"/>
              <a:gd name="connsiteX3" fmla="*/ 0 w 8596428"/>
              <a:gd name="connsiteY3" fmla="*/ 6535834 h 6535834"/>
            </a:gdLst>
            <a:ahLst/>
            <a:cxnLst>
              <a:cxn ang="0">
                <a:pos x="connsiteX0" y="connsiteY0"/>
              </a:cxn>
              <a:cxn ang="0">
                <a:pos x="connsiteX1" y="connsiteY1"/>
              </a:cxn>
              <a:cxn ang="0">
                <a:pos x="connsiteX2" y="connsiteY2"/>
              </a:cxn>
              <a:cxn ang="0">
                <a:pos x="connsiteX3" y="connsiteY3"/>
              </a:cxn>
            </a:cxnLst>
            <a:rect l="l" t="t" r="r" b="b"/>
            <a:pathLst>
              <a:path w="8596428" h="6535834">
                <a:moveTo>
                  <a:pt x="0" y="0"/>
                </a:moveTo>
                <a:lnTo>
                  <a:pt x="8596428" y="0"/>
                </a:lnTo>
                <a:lnTo>
                  <a:pt x="8596428" y="6535834"/>
                </a:lnTo>
                <a:lnTo>
                  <a:pt x="0" y="6535834"/>
                </a:lnTo>
                <a:close/>
              </a:path>
            </a:pathLst>
          </a:custGeom>
        </p:spPr>
      </p:pic>
      <p:pic>
        <p:nvPicPr>
          <p:cNvPr id="5" name="图片 4"/>
          <p:cNvPicPr>
            <a:picLocks noChangeAspect="1"/>
          </p:cNvPicPr>
          <p:nvPr/>
        </p:nvPicPr>
        <p:blipFill rotWithShape="1">
          <a:blip r:embed="rId2"/>
          <a:srcRect l="30135" t="41982" b="12967"/>
          <a:stretch>
            <a:fillRect/>
          </a:stretch>
        </p:blipFill>
        <p:spPr>
          <a:xfrm>
            <a:off x="-12033" y="0"/>
            <a:ext cx="6861406" cy="4422577"/>
          </a:xfrm>
          <a:custGeom>
            <a:avLst/>
            <a:gdLst>
              <a:gd name="connsiteX0" fmla="*/ 0 w 10639842"/>
              <a:gd name="connsiteY0" fmla="*/ 0 h 6858000"/>
              <a:gd name="connsiteX1" fmla="*/ 10639842 w 10639842"/>
              <a:gd name="connsiteY1" fmla="*/ 0 h 6858000"/>
              <a:gd name="connsiteX2" fmla="*/ 10639842 w 10639842"/>
              <a:gd name="connsiteY2" fmla="*/ 6858000 h 6858000"/>
              <a:gd name="connsiteX3" fmla="*/ 0 w 106398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639842" h="6858000">
                <a:moveTo>
                  <a:pt x="0" y="0"/>
                </a:moveTo>
                <a:lnTo>
                  <a:pt x="10639842" y="0"/>
                </a:lnTo>
                <a:lnTo>
                  <a:pt x="10639842" y="6858000"/>
                </a:lnTo>
                <a:lnTo>
                  <a:pt x="0" y="6858000"/>
                </a:lnTo>
                <a:close/>
              </a:path>
            </a:pathLst>
          </a:custGeom>
        </p:spPr>
      </p:pic>
      <p:sp>
        <p:nvSpPr>
          <p:cNvPr id="2" name="Text Box 1"/>
          <p:cNvSpPr txBox="1"/>
          <p:nvPr/>
        </p:nvSpPr>
        <p:spPr>
          <a:xfrm>
            <a:off x="0" y="263525"/>
            <a:ext cx="12192000" cy="922020"/>
          </a:xfrm>
          <a:prstGeom prst="rect">
            <a:avLst/>
          </a:prstGeom>
          <a:noFill/>
        </p:spPr>
        <p:txBody>
          <a:bodyPr wrap="square" rtlCol="0">
            <a:spAutoFit/>
          </a:bodyPr>
          <a:p>
            <a:pPr algn="ctr"/>
            <a:r>
              <a:rPr lang="en-US" altLang="en-US" sz="5400">
                <a:solidFill>
                  <a:schemeClr val="bg1"/>
                </a:solidFill>
                <a:latin typeface="Times New Roman" panose="02020603050405020304" charset="0"/>
                <a:cs typeface="Times New Roman" panose="02020603050405020304" charset="0"/>
              </a:rPr>
              <a:t>Problem Statement</a:t>
            </a:r>
            <a:endParaRPr lang="en-US" altLang="en-US" sz="5400">
              <a:solidFill>
                <a:schemeClr val="bg1"/>
              </a:solidFill>
              <a:latin typeface="Times New Roman" panose="02020603050405020304" charset="0"/>
              <a:cs typeface="Times New Roman" panose="02020603050405020304" charset="0"/>
            </a:endParaRPr>
          </a:p>
        </p:txBody>
      </p:sp>
      <p:sp>
        <p:nvSpPr>
          <p:cNvPr id="3" name="Text Box 2"/>
          <p:cNvSpPr txBox="1"/>
          <p:nvPr/>
        </p:nvSpPr>
        <p:spPr>
          <a:xfrm>
            <a:off x="7207250" y="950595"/>
            <a:ext cx="4064000" cy="368300"/>
          </a:xfrm>
          <a:prstGeom prst="rect">
            <a:avLst/>
          </a:prstGeom>
          <a:noFill/>
        </p:spPr>
        <p:txBody>
          <a:bodyPr wrap="square" rtlCol="0">
            <a:spAutoFit/>
          </a:bodyPr>
          <a:p>
            <a:endParaRPr lang="en-US"/>
          </a:p>
        </p:txBody>
      </p:sp>
      <p:sp>
        <p:nvSpPr>
          <p:cNvPr id="6" name="Text Box 5"/>
          <p:cNvSpPr txBox="1"/>
          <p:nvPr/>
        </p:nvSpPr>
        <p:spPr>
          <a:xfrm>
            <a:off x="735330" y="1422400"/>
            <a:ext cx="10968355" cy="4481195"/>
          </a:xfrm>
          <a:prstGeom prst="rect">
            <a:avLst/>
          </a:prstGeom>
          <a:noFill/>
        </p:spPr>
        <p:txBody>
          <a:bodyPr wrap="square" rtlCol="0">
            <a:noAutofit/>
          </a:bodyPr>
          <a:p>
            <a:pPr marL="342900" indent="-342900" algn="just">
              <a:buFont typeface="Wingdings" panose="05000000000000000000" charset="0"/>
              <a:buChar char="Ø"/>
            </a:pPr>
            <a:r>
              <a:rPr lang="en-US" altLang="en-US" sz="2400">
                <a:solidFill>
                  <a:schemeClr val="bg1"/>
                </a:solidFill>
                <a:latin typeface="Times New Roman" panose="02020603050405020304" charset="0"/>
                <a:cs typeface="Times New Roman" panose="02020603050405020304" charset="0"/>
              </a:rPr>
              <a:t>Pricing a used vehicle accurately is difficult because every car has unique characteristics. Buyers often overpay, while sellers may undervalue their vehicles due to limited market knowledge.</a:t>
            </a:r>
            <a:endParaRPr lang="en-US" altLang="en-US" sz="2400">
              <a:solidFill>
                <a:schemeClr val="bg1"/>
              </a:solidFill>
              <a:latin typeface="Times New Roman" panose="02020603050405020304" charset="0"/>
              <a:cs typeface="Times New Roman" panose="02020603050405020304" charset="0"/>
            </a:endParaRPr>
          </a:p>
          <a:p>
            <a:pPr algn="just"/>
            <a:endParaRPr lang="en-US" altLang="en-US" sz="2400">
              <a:solidFill>
                <a:schemeClr val="bg1"/>
              </a:solidFill>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400">
                <a:solidFill>
                  <a:schemeClr val="bg1"/>
                </a:solidFill>
                <a:latin typeface="Times New Roman" panose="02020603050405020304" charset="0"/>
                <a:cs typeface="Times New Roman" panose="02020603050405020304" charset="0"/>
              </a:rPr>
              <a:t>The absence of an intelligent pricing system leads to inconsistent pricing decisions and reduced market efficiency.</a:t>
            </a:r>
            <a:endParaRPr lang="en-US" altLang="en-US" sz="2400">
              <a:solidFill>
                <a:schemeClr val="bg1"/>
              </a:solidFill>
              <a:latin typeface="Times New Roman" panose="02020603050405020304" charset="0"/>
              <a:cs typeface="Times New Roman" panose="02020603050405020304" charset="0"/>
            </a:endParaRPr>
          </a:p>
          <a:p>
            <a:pPr algn="just"/>
            <a:endParaRPr lang="en-US" altLang="en-US" sz="2400">
              <a:solidFill>
                <a:schemeClr val="bg1"/>
              </a:solidFill>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altLang="en-US" sz="2400">
                <a:solidFill>
                  <a:schemeClr val="bg1"/>
                </a:solidFill>
                <a:latin typeface="Times New Roman" panose="02020603050405020304" charset="0"/>
                <a:cs typeface="Times New Roman" panose="02020603050405020304" charset="0"/>
              </a:rPr>
              <a:t>This project addresses the problem by developing a Machine Learning model capable of estimating a vehicle's selling price based on its features.</a:t>
            </a:r>
            <a:endParaRPr lang="en-US" altLang="en-US" sz="24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任意多边形: 形状 1"/>
          <p:cNvSpPr/>
          <p:nvPr/>
        </p:nvSpPr>
        <p:spPr>
          <a:xfrm>
            <a:off x="0" y="6193155"/>
            <a:ext cx="12192000" cy="652145"/>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矩形: 圆角 16"/>
          <p:cNvSpPr/>
          <p:nvPr/>
        </p:nvSpPr>
        <p:spPr>
          <a:xfrm>
            <a:off x="168910" y="1991360"/>
            <a:ext cx="5481955" cy="4024630"/>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p:cNvSpPr/>
          <p:nvPr/>
        </p:nvSpPr>
        <p:spPr>
          <a:xfrm>
            <a:off x="5826125" y="1405890"/>
            <a:ext cx="6197600" cy="5240020"/>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2485119" y="238411"/>
            <a:ext cx="7048500" cy="922020"/>
          </a:xfrm>
          <a:prstGeom prst="rect">
            <a:avLst/>
          </a:prstGeom>
          <a:noFill/>
        </p:spPr>
        <p:txBody>
          <a:bodyPr wrap="square">
            <a:spAutoFit/>
          </a:bodyPr>
          <a:lstStyle/>
          <a:p>
            <a:r>
              <a:rPr lang="en-US" altLang="en-US" sz="5400" dirty="0">
                <a:solidFill>
                  <a:schemeClr val="bg1"/>
                </a:solidFill>
                <a:latin typeface="+mj-lt"/>
                <a:ea typeface="Gilroy" panose="00000400000000000000" charset="0"/>
              </a:rPr>
              <a:t>Project Objectives</a:t>
            </a:r>
            <a:endParaRPr lang="en-US" altLang="en-US" sz="5400" dirty="0">
              <a:solidFill>
                <a:schemeClr val="bg1"/>
              </a:solidFill>
              <a:latin typeface="+mj-lt"/>
              <a:ea typeface="Gilroy" panose="00000400000000000000" charset="0"/>
            </a:endParaRPr>
          </a:p>
        </p:txBody>
      </p:sp>
      <p:grpSp>
        <p:nvGrpSpPr>
          <p:cNvPr id="20" name="组合 19"/>
          <p:cNvGrpSpPr/>
          <p:nvPr/>
        </p:nvGrpSpPr>
        <p:grpSpPr>
          <a:xfrm>
            <a:off x="600891" y="2467363"/>
            <a:ext cx="740547" cy="740547"/>
            <a:chOff x="975541" y="4855598"/>
            <a:chExt cx="740547" cy="740547"/>
          </a:xfrm>
          <a:effectLst/>
        </p:grpSpPr>
        <p:sp>
          <p:nvSpPr>
            <p:cNvPr id="14" name="椭圆 13"/>
            <p:cNvSpPr/>
            <p:nvPr/>
          </p:nvSpPr>
          <p:spPr>
            <a:xfrm>
              <a:off x="975541" y="4855598"/>
              <a:ext cx="740547" cy="740547"/>
            </a:xfrm>
            <a:prstGeom prst="ellipse">
              <a:avLst/>
            </a:prstGeom>
            <a:solidFill>
              <a:srgbClr val="1B5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6" name="图形 15"/>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53854" y="5036467"/>
              <a:ext cx="374520" cy="374520"/>
            </a:xfrm>
            <a:prstGeom prst="rect">
              <a:avLst/>
            </a:prstGeom>
          </p:spPr>
        </p:pic>
      </p:grpSp>
      <p:pic>
        <p:nvPicPr>
          <p:cNvPr id="36" name="图形 3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42664" y="3541664"/>
            <a:ext cx="374980" cy="374980"/>
          </a:xfrm>
          <a:prstGeom prst="rect">
            <a:avLst/>
          </a:prstGeom>
        </p:spPr>
      </p:pic>
      <p:grpSp>
        <p:nvGrpSpPr>
          <p:cNvPr id="3" name="组合 19"/>
          <p:cNvGrpSpPr/>
          <p:nvPr/>
        </p:nvGrpSpPr>
        <p:grpSpPr>
          <a:xfrm>
            <a:off x="5938066" y="1518038"/>
            <a:ext cx="740547" cy="740547"/>
            <a:chOff x="975541" y="4855598"/>
            <a:chExt cx="740547" cy="740547"/>
          </a:xfrm>
          <a:effectLst/>
        </p:grpSpPr>
        <p:sp>
          <p:nvSpPr>
            <p:cNvPr id="4" name="椭圆 13"/>
            <p:cNvSpPr/>
            <p:nvPr/>
          </p:nvSpPr>
          <p:spPr>
            <a:xfrm>
              <a:off x="975541" y="4855598"/>
              <a:ext cx="740547" cy="740547"/>
            </a:xfrm>
            <a:prstGeom prst="ellipse">
              <a:avLst/>
            </a:prstGeom>
            <a:solidFill>
              <a:srgbClr val="1B5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形 15"/>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53854" y="5036467"/>
              <a:ext cx="374520" cy="374520"/>
            </a:xfrm>
            <a:prstGeom prst="rect">
              <a:avLst/>
            </a:prstGeom>
          </p:spPr>
        </p:pic>
      </p:grpSp>
      <p:sp>
        <p:nvSpPr>
          <p:cNvPr id="8" name="Text Box 7"/>
          <p:cNvSpPr txBox="1"/>
          <p:nvPr/>
        </p:nvSpPr>
        <p:spPr>
          <a:xfrm>
            <a:off x="600710" y="2647950"/>
            <a:ext cx="4942840" cy="3088005"/>
          </a:xfrm>
          <a:prstGeom prst="rect">
            <a:avLst/>
          </a:prstGeom>
          <a:noFill/>
        </p:spPr>
        <p:txBody>
          <a:bodyPr wrap="square" rtlCol="0">
            <a:noAutofit/>
          </a:bodyPr>
          <a:p>
            <a:pPr algn="ctr"/>
            <a:r>
              <a:rPr lang="en-US" altLang="en-US" sz="2800" b="1" i="1">
                <a:solidFill>
                  <a:srgbClr val="1A3497"/>
                </a:solidFill>
                <a:latin typeface="Times New Roman" panose="02020603050405020304" charset="0"/>
                <a:cs typeface="Times New Roman" panose="02020603050405020304" charset="0"/>
              </a:rPr>
              <a:t>General Objective</a:t>
            </a:r>
            <a:endParaRPr lang="en-US" altLang="en-US" sz="2800" b="1" i="1">
              <a:solidFill>
                <a:srgbClr val="1A3497"/>
              </a:solidFill>
              <a:latin typeface="Times New Roman" panose="02020603050405020304" charset="0"/>
              <a:cs typeface="Times New Roman" panose="02020603050405020304" charset="0"/>
            </a:endParaRPr>
          </a:p>
          <a:p>
            <a:pPr marL="457200" indent="-457200" algn="l">
              <a:buFont typeface="Wingdings" panose="05000000000000000000" charset="0"/>
              <a:buChar char="v"/>
            </a:pPr>
            <a:endParaRPr lang="en-US" altLang="en-US" sz="2800" b="1" i="1">
              <a:solidFill>
                <a:srgbClr val="1A3497"/>
              </a:solidFill>
              <a:latin typeface="Times New Roman" panose="02020603050405020304" charset="0"/>
              <a:cs typeface="Times New Roman" panose="02020603050405020304" charset="0"/>
            </a:endParaRPr>
          </a:p>
          <a:p>
            <a:pPr marL="457200" indent="-457200" algn="l">
              <a:buFont typeface="Wingdings" panose="05000000000000000000" charset="0"/>
              <a:buChar char="v"/>
            </a:pPr>
            <a:r>
              <a:rPr lang="en-US" altLang="en-US" sz="2600" b="1" i="1">
                <a:solidFill>
                  <a:srgbClr val="1A3497"/>
                </a:solidFill>
                <a:latin typeface="Times New Roman" panose="02020603050405020304" charset="0"/>
                <a:cs typeface="Times New Roman" panose="02020603050405020304" charset="0"/>
              </a:rPr>
              <a:t>To develop an intelligent Machine Learning model that accurately predicts the selling price of used cars.</a:t>
            </a:r>
            <a:endParaRPr lang="en-US" altLang="en-US" sz="2600" b="1" i="1">
              <a:solidFill>
                <a:srgbClr val="1A3497"/>
              </a:solidFill>
              <a:latin typeface="Times New Roman" panose="02020603050405020304" charset="0"/>
              <a:cs typeface="Times New Roman" panose="02020603050405020304" charset="0"/>
            </a:endParaRPr>
          </a:p>
        </p:txBody>
      </p:sp>
      <p:sp>
        <p:nvSpPr>
          <p:cNvPr id="9" name="Text Box 8"/>
          <p:cNvSpPr txBox="1"/>
          <p:nvPr/>
        </p:nvSpPr>
        <p:spPr>
          <a:xfrm>
            <a:off x="5937885" y="1698625"/>
            <a:ext cx="6086475" cy="4631690"/>
          </a:xfrm>
          <a:prstGeom prst="rect">
            <a:avLst/>
          </a:prstGeom>
          <a:noFill/>
        </p:spPr>
        <p:txBody>
          <a:bodyPr wrap="square" rtlCol="0">
            <a:noAutofit/>
          </a:bodyPr>
          <a:p>
            <a:pPr algn="l"/>
            <a:r>
              <a:rPr lang="en-GB" altLang="en-US" sz="2800" b="1" i="1">
                <a:solidFill>
                  <a:srgbClr val="1A3497"/>
                </a:solidFill>
                <a:latin typeface="Times New Roman" panose="02020603050405020304" charset="0"/>
                <a:cs typeface="Times New Roman" panose="02020603050405020304" charset="0"/>
                <a:sym typeface="+mn-ea"/>
              </a:rPr>
              <a:t>          </a:t>
            </a:r>
            <a:r>
              <a:rPr lang="en-US" altLang="en-US" sz="2800" b="1" i="1">
                <a:solidFill>
                  <a:srgbClr val="1A3497"/>
                </a:solidFill>
                <a:latin typeface="Times New Roman" panose="02020603050405020304" charset="0"/>
                <a:cs typeface="Times New Roman" panose="02020603050405020304" charset="0"/>
                <a:sym typeface="+mn-ea"/>
              </a:rPr>
              <a:t>Specific Objective</a:t>
            </a:r>
            <a:endParaRPr lang="en-US" altLang="en-US" b="1" i="1">
              <a:solidFill>
                <a:srgbClr val="1A3497"/>
              </a:solidFill>
              <a:latin typeface="Times New Roman" panose="02020603050405020304" charset="0"/>
              <a:cs typeface="Times New Roman" panose="02020603050405020304" charset="0"/>
            </a:endParaRPr>
          </a:p>
          <a:p>
            <a:pPr marL="342900" indent="-342900" algn="l">
              <a:buFont typeface="Wingdings" panose="05000000000000000000" charset="0"/>
              <a:buChar char="Ø"/>
            </a:pPr>
            <a:r>
              <a:rPr lang="en-US" altLang="en-US" sz="2400" b="1" i="1">
                <a:solidFill>
                  <a:srgbClr val="1A3497"/>
                </a:solidFill>
                <a:latin typeface="Times New Roman" panose="02020603050405020304" charset="0"/>
                <a:cs typeface="Times New Roman" panose="02020603050405020304" charset="0"/>
              </a:rPr>
              <a:t>Understand and analyze the used car dataset.</a:t>
            </a:r>
            <a:endParaRPr lang="en-US" altLang="en-US" sz="2400" b="1" i="1">
              <a:solidFill>
                <a:srgbClr val="1A3497"/>
              </a:solidFill>
              <a:latin typeface="Times New Roman" panose="02020603050405020304" charset="0"/>
              <a:cs typeface="Times New Roman" panose="02020603050405020304" charset="0"/>
            </a:endParaRPr>
          </a:p>
          <a:p>
            <a:pPr marL="342900" indent="-342900" algn="l">
              <a:buFont typeface="Wingdings" panose="05000000000000000000" charset="0"/>
              <a:buChar char="Ø"/>
            </a:pPr>
            <a:r>
              <a:rPr lang="en-US" altLang="en-US" sz="2400" b="1" i="1">
                <a:solidFill>
                  <a:srgbClr val="1A3497"/>
                </a:solidFill>
                <a:latin typeface="Times New Roman" panose="02020603050405020304" charset="0"/>
                <a:cs typeface="Times New Roman" panose="02020603050405020304" charset="0"/>
              </a:rPr>
              <a:t>Clean and preprocess the collected data.</a:t>
            </a:r>
            <a:endParaRPr lang="en-US" altLang="en-US" sz="2400" b="1" i="1">
              <a:solidFill>
                <a:srgbClr val="1A3497"/>
              </a:solidFill>
              <a:latin typeface="Times New Roman" panose="02020603050405020304" charset="0"/>
              <a:cs typeface="Times New Roman" panose="02020603050405020304" charset="0"/>
            </a:endParaRPr>
          </a:p>
          <a:p>
            <a:pPr marL="342900" indent="-342900" algn="l">
              <a:buFont typeface="Wingdings" panose="05000000000000000000" charset="0"/>
              <a:buChar char="Ø"/>
            </a:pPr>
            <a:r>
              <a:rPr lang="en-US" altLang="en-US" sz="2400" b="1" i="1">
                <a:solidFill>
                  <a:srgbClr val="1A3497"/>
                </a:solidFill>
                <a:latin typeface="Times New Roman" panose="02020603050405020304" charset="0"/>
                <a:cs typeface="Times New Roman" panose="02020603050405020304" charset="0"/>
              </a:rPr>
              <a:t>Perform exploratory data analysis to identify trends and relationships.</a:t>
            </a:r>
            <a:endParaRPr lang="en-US" altLang="en-US" sz="2400" b="1" i="1">
              <a:solidFill>
                <a:srgbClr val="1A3497"/>
              </a:solidFill>
              <a:latin typeface="Times New Roman" panose="02020603050405020304" charset="0"/>
              <a:cs typeface="Times New Roman" panose="02020603050405020304" charset="0"/>
            </a:endParaRPr>
          </a:p>
          <a:p>
            <a:pPr marL="342900" indent="-342900" algn="l">
              <a:buFont typeface="Wingdings" panose="05000000000000000000" charset="0"/>
              <a:buChar char="Ø"/>
            </a:pPr>
            <a:r>
              <a:rPr lang="en-US" altLang="en-US" sz="2400" b="1" i="1">
                <a:solidFill>
                  <a:srgbClr val="1A3497"/>
                </a:solidFill>
                <a:latin typeface="Times New Roman" panose="02020603050405020304" charset="0"/>
                <a:cs typeface="Times New Roman" panose="02020603050405020304" charset="0"/>
              </a:rPr>
              <a:t>Create meaningful features to improve prediction accurac</a:t>
            </a:r>
            <a:r>
              <a:rPr lang="en-US" altLang="en-US" b="1" i="1">
                <a:solidFill>
                  <a:srgbClr val="1A3497"/>
                </a:solidFill>
                <a:latin typeface="Times New Roman" panose="02020603050405020304" charset="0"/>
                <a:cs typeface="Times New Roman" panose="02020603050405020304" charset="0"/>
              </a:rPr>
              <a:t>y.</a:t>
            </a:r>
            <a:endParaRPr lang="en-US" altLang="en-US" b="1" i="1">
              <a:solidFill>
                <a:srgbClr val="1A3497"/>
              </a:solidFill>
              <a:latin typeface="Times New Roman" panose="02020603050405020304" charset="0"/>
              <a:cs typeface="Times New Roman" panose="02020603050405020304" charset="0"/>
            </a:endParaRPr>
          </a:p>
          <a:p>
            <a:pPr marL="342900" indent="-342900" algn="l">
              <a:buFont typeface="Wingdings" panose="05000000000000000000" charset="0"/>
              <a:buChar char="Ø"/>
            </a:pPr>
            <a:r>
              <a:rPr lang="en-US" altLang="en-US" sz="2400" b="1" i="1">
                <a:solidFill>
                  <a:srgbClr val="1A3497"/>
                </a:solidFill>
                <a:latin typeface="Times New Roman" panose="02020603050405020304" charset="0"/>
                <a:cs typeface="Times New Roman" panose="02020603050405020304" charset="0"/>
              </a:rPr>
              <a:t>Train and compare multiple regression algorithms.</a:t>
            </a:r>
            <a:endParaRPr lang="en-US" altLang="en-US" sz="2400" b="1" i="1">
              <a:solidFill>
                <a:srgbClr val="1A3497"/>
              </a:solidFill>
              <a:latin typeface="Times New Roman" panose="02020603050405020304" charset="0"/>
              <a:cs typeface="Times New Roman" panose="02020603050405020304" charset="0"/>
            </a:endParaRPr>
          </a:p>
          <a:p>
            <a:pPr marL="342900" indent="-342900" algn="l">
              <a:buFont typeface="Wingdings" panose="05000000000000000000" charset="0"/>
              <a:buChar char="Ø"/>
            </a:pPr>
            <a:r>
              <a:rPr lang="en-US" altLang="en-US" sz="2400" b="1" i="1">
                <a:solidFill>
                  <a:srgbClr val="1A3497"/>
                </a:solidFill>
                <a:latin typeface="Times New Roman" panose="02020603050405020304" charset="0"/>
                <a:cs typeface="Times New Roman" panose="02020603050405020304" charset="0"/>
              </a:rPr>
              <a:t>Develop an interactive Streamlit web application for real-time price prediction.</a:t>
            </a:r>
            <a:endParaRPr lang="en-US" altLang="en-US" sz="2400" b="1" i="1">
              <a:solidFill>
                <a:srgbClr val="1A3497"/>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任意多边形: 形状 1"/>
          <p:cNvSpPr/>
          <p:nvPr/>
        </p:nvSpPr>
        <p:spPr>
          <a:xfrm>
            <a:off x="7620" y="5014595"/>
            <a:ext cx="12192000" cy="1843405"/>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文本框 10"/>
          <p:cNvSpPr txBox="1"/>
          <p:nvPr/>
        </p:nvSpPr>
        <p:spPr>
          <a:xfrm>
            <a:off x="731838" y="488601"/>
            <a:ext cx="11216844" cy="706755"/>
          </a:xfrm>
          <a:prstGeom prst="rect">
            <a:avLst/>
          </a:prstGeom>
          <a:noFill/>
        </p:spPr>
        <p:txBody>
          <a:bodyPr wrap="square">
            <a:spAutoFit/>
          </a:bodyPr>
          <a:lstStyle/>
          <a:p>
            <a:pPr algn="ctr"/>
            <a:r>
              <a:rPr lang="en-US" altLang="en-US" sz="4000" dirty="0">
                <a:solidFill>
                  <a:schemeClr val="bg1"/>
                </a:solidFill>
                <a:latin typeface="+mj-lt"/>
                <a:ea typeface="Gilroy" panose="00000400000000000000" charset="0"/>
              </a:rPr>
              <a:t>Dataset Description</a:t>
            </a:r>
            <a:endParaRPr lang="en-US" altLang="en-US" sz="4000" dirty="0">
              <a:solidFill>
                <a:schemeClr val="bg1"/>
              </a:solidFill>
              <a:latin typeface="+mj-lt"/>
              <a:ea typeface="Gilroy" panose="00000400000000000000" charset="0"/>
            </a:endParaRPr>
          </a:p>
        </p:txBody>
      </p:sp>
      <p:sp>
        <p:nvSpPr>
          <p:cNvPr id="15" name="文本框 14"/>
          <p:cNvSpPr txBox="1"/>
          <p:nvPr/>
        </p:nvSpPr>
        <p:spPr>
          <a:xfrm>
            <a:off x="2805476" y="5495121"/>
            <a:ext cx="2562905" cy="460375"/>
          </a:xfrm>
          <a:prstGeom prst="rect">
            <a:avLst/>
          </a:prstGeom>
          <a:noFill/>
        </p:spPr>
        <p:txBody>
          <a:bodyPr wrap="square">
            <a:spAutoFit/>
          </a:bodyPr>
          <a:lstStyle/>
          <a:p>
            <a:pPr fontAlgn="ctr"/>
            <a:r>
              <a:rPr lang="en-GB" altLang="en-US" sz="2400" dirty="0">
                <a:solidFill>
                  <a:schemeClr val="bg1"/>
                </a:solidFill>
                <a:latin typeface="+mj-lt"/>
                <a:ea typeface="Arial" panose="020B0604020202020204" pitchFamily="34" charset="0"/>
              </a:rPr>
              <a:t>Rows</a:t>
            </a:r>
            <a:endParaRPr lang="en-GB" altLang="en-US" sz="2400" b="0" i="0" u="none" strike="noStrike" dirty="0">
              <a:solidFill>
                <a:schemeClr val="bg1"/>
              </a:solidFill>
              <a:effectLst/>
              <a:latin typeface="+mj-lt"/>
              <a:ea typeface="Arial" panose="020B0604020202020204" pitchFamily="34" charset="0"/>
            </a:endParaRPr>
          </a:p>
        </p:txBody>
      </p:sp>
      <p:sp>
        <p:nvSpPr>
          <p:cNvPr id="19" name="文本框 18"/>
          <p:cNvSpPr txBox="1"/>
          <p:nvPr/>
        </p:nvSpPr>
        <p:spPr>
          <a:xfrm>
            <a:off x="7848130" y="5309066"/>
            <a:ext cx="2562905" cy="460375"/>
          </a:xfrm>
          <a:prstGeom prst="rect">
            <a:avLst/>
          </a:prstGeom>
          <a:noFill/>
        </p:spPr>
        <p:txBody>
          <a:bodyPr wrap="square">
            <a:spAutoFit/>
          </a:bodyPr>
          <a:lstStyle/>
          <a:p>
            <a:pPr fontAlgn="ctr"/>
            <a:r>
              <a:rPr lang="en-GB" altLang="en-US" sz="2400" dirty="0">
                <a:solidFill>
                  <a:schemeClr val="bg1"/>
                </a:solidFill>
                <a:latin typeface="+mj-lt"/>
                <a:ea typeface="Arial" panose="020B0604020202020204" pitchFamily="34" charset="0"/>
              </a:rPr>
              <a:t>Column</a:t>
            </a:r>
            <a:endParaRPr lang="en-GB" altLang="en-US" sz="2400" b="0" i="0" u="none" strike="noStrike" dirty="0">
              <a:solidFill>
                <a:schemeClr val="bg1"/>
              </a:solidFill>
              <a:effectLst/>
              <a:latin typeface="+mj-lt"/>
              <a:ea typeface="Arial" panose="020B0604020202020204" pitchFamily="34" charset="0"/>
            </a:endParaRPr>
          </a:p>
        </p:txBody>
      </p:sp>
      <p:sp>
        <p:nvSpPr>
          <p:cNvPr id="23" name="文本框 22"/>
          <p:cNvSpPr txBox="1"/>
          <p:nvPr/>
        </p:nvSpPr>
        <p:spPr>
          <a:xfrm>
            <a:off x="2805516" y="5972668"/>
            <a:ext cx="2562905" cy="521970"/>
          </a:xfrm>
          <a:prstGeom prst="rect">
            <a:avLst/>
          </a:prstGeom>
          <a:noFill/>
        </p:spPr>
        <p:txBody>
          <a:bodyPr wrap="square">
            <a:spAutoFit/>
          </a:bodyPr>
          <a:lstStyle/>
          <a:p>
            <a:pPr fontAlgn="ctr"/>
            <a:r>
              <a:rPr lang="en-GB" altLang="en-US" sz="2800" dirty="0">
                <a:solidFill>
                  <a:schemeClr val="bg1"/>
                </a:solidFill>
                <a:latin typeface="+mj-lt"/>
                <a:ea typeface="Arial" panose="020B0604020202020204" pitchFamily="34" charset="0"/>
              </a:rPr>
              <a:t>4,009</a:t>
            </a:r>
            <a:endParaRPr lang="en-GB" altLang="en-US" sz="2800" b="0" i="0" u="none" strike="noStrike" dirty="0">
              <a:solidFill>
                <a:schemeClr val="bg1"/>
              </a:solidFill>
              <a:effectLst/>
              <a:latin typeface="+mj-lt"/>
              <a:ea typeface="Arial" panose="020B0604020202020204" pitchFamily="34" charset="0"/>
            </a:endParaRPr>
          </a:p>
        </p:txBody>
      </p:sp>
      <p:sp>
        <p:nvSpPr>
          <p:cNvPr id="24" name="文本框 23"/>
          <p:cNvSpPr txBox="1"/>
          <p:nvPr/>
        </p:nvSpPr>
        <p:spPr>
          <a:xfrm>
            <a:off x="8180330" y="5792963"/>
            <a:ext cx="2562905" cy="583565"/>
          </a:xfrm>
          <a:prstGeom prst="rect">
            <a:avLst/>
          </a:prstGeom>
          <a:noFill/>
        </p:spPr>
        <p:txBody>
          <a:bodyPr wrap="square">
            <a:spAutoFit/>
          </a:bodyPr>
          <a:lstStyle/>
          <a:p>
            <a:pPr fontAlgn="ctr"/>
            <a:r>
              <a:rPr lang="en-GB" altLang="en-US" sz="3200" b="0" i="0" u="none" strike="noStrike" dirty="0">
                <a:solidFill>
                  <a:schemeClr val="bg1"/>
                </a:solidFill>
                <a:effectLst/>
                <a:latin typeface="+mj-lt"/>
                <a:ea typeface="Arial" panose="020B0604020202020204" pitchFamily="34" charset="0"/>
              </a:rPr>
              <a:t>12</a:t>
            </a:r>
            <a:endParaRPr lang="en-GB" altLang="en-US" sz="3200" b="0" i="0" u="none" strike="noStrike" dirty="0">
              <a:solidFill>
                <a:schemeClr val="bg1"/>
              </a:solidFill>
              <a:effectLst/>
              <a:latin typeface="+mj-lt"/>
              <a:ea typeface="Arial" panose="020B0604020202020204" pitchFamily="34" charset="0"/>
            </a:endParaRPr>
          </a:p>
        </p:txBody>
      </p:sp>
      <p:cxnSp>
        <p:nvCxnSpPr>
          <p:cNvPr id="26" name="直接连接符 25"/>
          <p:cNvCxnSpPr/>
          <p:nvPr/>
        </p:nvCxnSpPr>
        <p:spPr>
          <a:xfrm>
            <a:off x="2557826" y="6599703"/>
            <a:ext cx="1710644" cy="0"/>
          </a:xfrm>
          <a:prstGeom prst="line">
            <a:avLst/>
          </a:prstGeom>
          <a:ln>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638864" y="6599703"/>
            <a:ext cx="1711511" cy="0"/>
          </a:xfrm>
          <a:prstGeom prst="line">
            <a:avLst/>
          </a:prstGeom>
          <a:ln>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559664" y="5769452"/>
            <a:ext cx="620305" cy="620305"/>
            <a:chOff x="1984442" y="5680952"/>
            <a:chExt cx="476655" cy="476655"/>
          </a:xfrm>
        </p:grpSpPr>
        <p:sp>
          <p:nvSpPr>
            <p:cNvPr id="37" name="椭圆 36"/>
            <p:cNvSpPr/>
            <p:nvPr/>
          </p:nvSpPr>
          <p:spPr>
            <a:xfrm>
              <a:off x="1984442" y="5680952"/>
              <a:ext cx="476655" cy="476655"/>
            </a:xfrm>
            <a:prstGeom prst="ellipse">
              <a:avLst/>
            </a:prstGeom>
            <a:solidFill>
              <a:srgbClr val="AF2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半闭框 37"/>
            <p:cNvSpPr/>
            <p:nvPr/>
          </p:nvSpPr>
          <p:spPr>
            <a:xfrm rot="13500593">
              <a:off x="2150860" y="5797397"/>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6" name="图片 5"/>
          <p:cNvPicPr>
            <a:picLocks noChangeAspect="1"/>
          </p:cNvPicPr>
          <p:nvPr/>
        </p:nvPicPr>
        <p:blipFill rotWithShape="1">
          <a:blip r:embed="rId1"/>
          <a:srcRect l="1592" t="-2955" r="22964" b="59528"/>
          <a:stretch>
            <a:fillRect/>
          </a:stretch>
        </p:blipFill>
        <p:spPr>
          <a:xfrm flipH="1">
            <a:off x="8179796" y="3510052"/>
            <a:ext cx="3579091" cy="2060168"/>
          </a:xfrm>
          <a:custGeom>
            <a:avLst/>
            <a:gdLst>
              <a:gd name="connsiteX0" fmla="*/ 3579091 w 3579091"/>
              <a:gd name="connsiteY0" fmla="*/ 0 h 2060168"/>
              <a:gd name="connsiteX1" fmla="*/ 0 w 3579091"/>
              <a:gd name="connsiteY1" fmla="*/ 0 h 2060168"/>
              <a:gd name="connsiteX2" fmla="*/ 0 w 3579091"/>
              <a:gd name="connsiteY2" fmla="*/ 2060168 h 2060168"/>
              <a:gd name="connsiteX3" fmla="*/ 3579091 w 3579091"/>
              <a:gd name="connsiteY3" fmla="*/ 2060168 h 2060168"/>
            </a:gdLst>
            <a:ahLst/>
            <a:cxnLst>
              <a:cxn ang="0">
                <a:pos x="connsiteX0" y="connsiteY0"/>
              </a:cxn>
              <a:cxn ang="0">
                <a:pos x="connsiteX1" y="connsiteY1"/>
              </a:cxn>
              <a:cxn ang="0">
                <a:pos x="connsiteX2" y="connsiteY2"/>
              </a:cxn>
              <a:cxn ang="0">
                <a:pos x="connsiteX3" y="connsiteY3"/>
              </a:cxn>
            </a:cxnLst>
            <a:rect l="l" t="t" r="r" b="b"/>
            <a:pathLst>
              <a:path w="3579091" h="2060168">
                <a:moveTo>
                  <a:pt x="3579091" y="0"/>
                </a:moveTo>
                <a:lnTo>
                  <a:pt x="0" y="0"/>
                </a:lnTo>
                <a:lnTo>
                  <a:pt x="0" y="2060168"/>
                </a:lnTo>
                <a:lnTo>
                  <a:pt x="3579091" y="2060168"/>
                </a:lnTo>
                <a:close/>
              </a:path>
            </a:pathLst>
          </a:custGeom>
        </p:spPr>
      </p:pic>
      <p:pic>
        <p:nvPicPr>
          <p:cNvPr id="13" name="图片 12"/>
          <p:cNvPicPr>
            <a:picLocks noChangeAspect="1"/>
          </p:cNvPicPr>
          <p:nvPr/>
        </p:nvPicPr>
        <p:blipFill rotWithShape="1">
          <a:blip r:embed="rId2"/>
          <a:srcRect l="46389" t="47807" b="12967"/>
          <a:stretch>
            <a:fillRect/>
          </a:stretch>
        </p:blipFill>
        <p:spPr>
          <a:xfrm flipH="1">
            <a:off x="8465727" y="4227195"/>
            <a:ext cx="3483068" cy="2547458"/>
          </a:xfrm>
          <a:custGeom>
            <a:avLst/>
            <a:gdLst>
              <a:gd name="connsiteX0" fmla="*/ 3483068 w 3483068"/>
              <a:gd name="connsiteY0" fmla="*/ 0 h 2547458"/>
              <a:gd name="connsiteX1" fmla="*/ 0 w 3483068"/>
              <a:gd name="connsiteY1" fmla="*/ 0 h 2547458"/>
              <a:gd name="connsiteX2" fmla="*/ 0 w 3483068"/>
              <a:gd name="connsiteY2" fmla="*/ 2547458 h 2547458"/>
              <a:gd name="connsiteX3" fmla="*/ 3483068 w 3483068"/>
              <a:gd name="connsiteY3" fmla="*/ 2547458 h 2547458"/>
            </a:gdLst>
            <a:ahLst/>
            <a:cxnLst>
              <a:cxn ang="0">
                <a:pos x="connsiteX0" y="connsiteY0"/>
              </a:cxn>
              <a:cxn ang="0">
                <a:pos x="connsiteX1" y="connsiteY1"/>
              </a:cxn>
              <a:cxn ang="0">
                <a:pos x="connsiteX2" y="connsiteY2"/>
              </a:cxn>
              <a:cxn ang="0">
                <a:pos x="connsiteX3" y="connsiteY3"/>
              </a:cxn>
            </a:cxnLst>
            <a:rect l="l" t="t" r="r" b="b"/>
            <a:pathLst>
              <a:path w="3483068" h="2547458">
                <a:moveTo>
                  <a:pt x="3483068" y="0"/>
                </a:moveTo>
                <a:lnTo>
                  <a:pt x="0" y="0"/>
                </a:lnTo>
                <a:lnTo>
                  <a:pt x="0" y="2547458"/>
                </a:lnTo>
                <a:lnTo>
                  <a:pt x="3483068" y="2547458"/>
                </a:lnTo>
                <a:close/>
              </a:path>
            </a:pathLst>
          </a:custGeom>
        </p:spPr>
      </p:pic>
      <p:sp>
        <p:nvSpPr>
          <p:cNvPr id="3" name="矩形: 圆角 16"/>
          <p:cNvSpPr/>
          <p:nvPr/>
        </p:nvSpPr>
        <p:spPr>
          <a:xfrm>
            <a:off x="169545" y="1768475"/>
            <a:ext cx="5481955" cy="3427730"/>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Text Box 3"/>
          <p:cNvSpPr txBox="1"/>
          <p:nvPr/>
        </p:nvSpPr>
        <p:spPr>
          <a:xfrm>
            <a:off x="455295" y="2166620"/>
            <a:ext cx="5196205" cy="2847975"/>
          </a:xfrm>
          <a:prstGeom prst="rect">
            <a:avLst/>
          </a:prstGeom>
          <a:noFill/>
        </p:spPr>
        <p:txBody>
          <a:bodyPr wrap="square" rtlCol="0">
            <a:noAutofit/>
          </a:bodyPr>
          <a:p>
            <a:pPr marL="457200" indent="-457200">
              <a:lnSpc>
                <a:spcPct val="150000"/>
              </a:lnSpc>
              <a:buFont typeface="Wingdings" panose="05000000000000000000" charset="0"/>
              <a:buChar char="v"/>
            </a:pPr>
            <a:r>
              <a:rPr lang="en-US" altLang="en-US" sz="3200" b="1">
                <a:solidFill>
                  <a:srgbClr val="1A3497"/>
                </a:solidFill>
                <a:latin typeface="Times New Roman" panose="02020603050405020304" charset="0"/>
                <a:cs typeface="Times New Roman" panose="02020603050405020304" charset="0"/>
              </a:rPr>
              <a:t>Total Records: 4,009</a:t>
            </a:r>
            <a:endParaRPr lang="en-US" altLang="en-US" sz="3200" b="1">
              <a:solidFill>
                <a:srgbClr val="1A3497"/>
              </a:solidFill>
              <a:latin typeface="Times New Roman" panose="02020603050405020304" charset="0"/>
              <a:cs typeface="Times New Roman" panose="02020603050405020304" charset="0"/>
            </a:endParaRPr>
          </a:p>
          <a:p>
            <a:pPr marL="457200" indent="-457200">
              <a:lnSpc>
                <a:spcPct val="150000"/>
              </a:lnSpc>
              <a:buFont typeface="Wingdings" panose="05000000000000000000" charset="0"/>
              <a:buChar char="v"/>
            </a:pPr>
            <a:r>
              <a:rPr lang="en-US" altLang="en-US" sz="3200" b="1">
                <a:solidFill>
                  <a:srgbClr val="1A3497"/>
                </a:solidFill>
                <a:latin typeface="Times New Roman" panose="02020603050405020304" charset="0"/>
                <a:cs typeface="Times New Roman" panose="02020603050405020304" charset="0"/>
              </a:rPr>
              <a:t>Target Variable: Selling Price</a:t>
            </a:r>
            <a:endParaRPr lang="en-US" altLang="en-US" sz="3200" b="1">
              <a:solidFill>
                <a:srgbClr val="1A3497"/>
              </a:solidFill>
              <a:latin typeface="Times New Roman" panose="02020603050405020304" charset="0"/>
              <a:cs typeface="Times New Roman" panose="02020603050405020304" charset="0"/>
            </a:endParaRPr>
          </a:p>
        </p:txBody>
      </p:sp>
      <p:sp>
        <p:nvSpPr>
          <p:cNvPr id="5" name="矩形: 圆角 18"/>
          <p:cNvSpPr/>
          <p:nvPr/>
        </p:nvSpPr>
        <p:spPr>
          <a:xfrm>
            <a:off x="5826125" y="1297940"/>
            <a:ext cx="6197600" cy="3987800"/>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Text Box 6"/>
          <p:cNvSpPr txBox="1"/>
          <p:nvPr/>
        </p:nvSpPr>
        <p:spPr>
          <a:xfrm>
            <a:off x="6038215" y="1547495"/>
            <a:ext cx="5913755" cy="3467100"/>
          </a:xfrm>
          <a:prstGeom prst="rect">
            <a:avLst/>
          </a:prstGeom>
          <a:noFill/>
        </p:spPr>
        <p:txBody>
          <a:bodyPr wrap="square" rtlCol="0">
            <a:noAutofit/>
          </a:bodyPr>
          <a:p>
            <a:pPr algn="ctr"/>
            <a:r>
              <a:rPr lang="en-US" altLang="en-US" sz="3600" b="1">
                <a:solidFill>
                  <a:srgbClr val="1A3497"/>
                </a:solidFill>
                <a:latin typeface="Times New Roman" panose="02020603050405020304" charset="0"/>
                <a:cs typeface="Times New Roman" panose="02020603050405020304" charset="0"/>
              </a:rPr>
              <a:t>Important Features</a:t>
            </a:r>
            <a:endParaRPr lang="en-US" altLang="en-US" sz="3600" b="1">
              <a:solidFill>
                <a:srgbClr val="1A3497"/>
              </a:solidFill>
              <a:latin typeface="Times New Roman" panose="02020603050405020304" charset="0"/>
              <a:cs typeface="Times New Roman" panose="02020603050405020304" charset="0"/>
            </a:endParaRPr>
          </a:p>
          <a:p>
            <a:pPr algn="l"/>
            <a:endParaRPr lang="en-US" altLang="en-US" sz="3600" b="1">
              <a:solidFill>
                <a:srgbClr val="1A3497"/>
              </a:solidFill>
              <a:latin typeface="Times New Roman" panose="02020603050405020304" charset="0"/>
              <a:cs typeface="Times New Roman" panose="02020603050405020304" charset="0"/>
            </a:endParaRPr>
          </a:p>
          <a:p>
            <a:pPr algn="l"/>
            <a:endParaRPr lang="en-US" altLang="en-US" sz="3600" b="1">
              <a:solidFill>
                <a:srgbClr val="1A3497"/>
              </a:solidFill>
              <a:latin typeface="Times New Roman" panose="02020603050405020304" charset="0"/>
              <a:cs typeface="Times New Roman" panose="02020603050405020304" charset="0"/>
            </a:endParaRPr>
          </a:p>
        </p:txBody>
      </p:sp>
      <p:pic>
        <p:nvPicPr>
          <p:cNvPr id="9" name="Picture 8"/>
          <p:cNvPicPr>
            <a:picLocks noChangeAspect="1"/>
          </p:cNvPicPr>
          <p:nvPr/>
        </p:nvPicPr>
        <p:blipFill>
          <a:blip r:embed="rId3"/>
          <a:stretch>
            <a:fillRect/>
          </a:stretch>
        </p:blipFill>
        <p:spPr>
          <a:xfrm>
            <a:off x="6212205" y="2166620"/>
            <a:ext cx="5420360" cy="30295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任意多边形: 形状 1"/>
          <p:cNvSpPr/>
          <p:nvPr/>
        </p:nvSpPr>
        <p:spPr>
          <a:xfrm>
            <a:off x="5900420" y="1520190"/>
            <a:ext cx="5993130" cy="5081905"/>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solidFill>
            <a:schemeClr val="bg1"/>
          </a:solidFill>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dirty="0"/>
          </a:p>
        </p:txBody>
      </p:sp>
      <p:sp>
        <p:nvSpPr>
          <p:cNvPr id="12" name="矩形: 圆角 11"/>
          <p:cNvSpPr/>
          <p:nvPr/>
        </p:nvSpPr>
        <p:spPr>
          <a:xfrm>
            <a:off x="297815" y="1964055"/>
            <a:ext cx="5390515" cy="4523740"/>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2600" b="1" dirty="0">
              <a:solidFill>
                <a:srgbClr val="221195"/>
              </a:solidFill>
              <a:latin typeface="Times New Roman" panose="02020603050405020304" charset="0"/>
              <a:cs typeface="Times New Roman" panose="02020603050405020304" charset="0"/>
            </a:endParaRPr>
          </a:p>
          <a:p>
            <a:pPr marL="342900" indent="-342900" algn="l">
              <a:lnSpc>
                <a:spcPct val="100000"/>
              </a:lnSpc>
              <a:buFont typeface="Wingdings" panose="05000000000000000000" charset="0"/>
              <a:buChar char="Ø"/>
            </a:pPr>
            <a:r>
              <a:rPr lang="en-US" altLang="en-US" sz="2600" b="1" dirty="0">
                <a:solidFill>
                  <a:srgbClr val="221195"/>
                </a:solidFill>
                <a:latin typeface="Times New Roman" panose="02020603050405020304" charset="0"/>
                <a:cs typeface="Times New Roman" panose="02020603050405020304" charset="0"/>
              </a:rPr>
              <a:t>Handling missing values</a:t>
            </a:r>
            <a:endParaRPr lang="en-US" altLang="en-US" sz="2600" b="1" dirty="0">
              <a:solidFill>
                <a:srgbClr val="221195"/>
              </a:solidFill>
              <a:latin typeface="Times New Roman" panose="02020603050405020304" charset="0"/>
              <a:cs typeface="Times New Roman" panose="02020603050405020304" charset="0"/>
            </a:endParaRPr>
          </a:p>
          <a:p>
            <a:pPr marL="342900" indent="-342900" algn="l">
              <a:lnSpc>
                <a:spcPct val="100000"/>
              </a:lnSpc>
              <a:buFont typeface="Wingdings" panose="05000000000000000000" charset="0"/>
              <a:buChar char="Ø"/>
            </a:pPr>
            <a:r>
              <a:rPr lang="en-US" altLang="en-US" sz="2600" b="1" dirty="0">
                <a:solidFill>
                  <a:srgbClr val="221195"/>
                </a:solidFill>
                <a:latin typeface="Times New Roman" panose="02020603050405020304" charset="0"/>
                <a:cs typeface="Times New Roman" panose="02020603050405020304" charset="0"/>
              </a:rPr>
              <a:t>Removing duplicate records </a:t>
            </a:r>
            <a:endParaRPr lang="en-US" altLang="en-US" sz="2600" b="1" dirty="0">
              <a:solidFill>
                <a:srgbClr val="221195"/>
              </a:solidFill>
              <a:latin typeface="Times New Roman" panose="02020603050405020304" charset="0"/>
              <a:cs typeface="Times New Roman" panose="02020603050405020304" charset="0"/>
            </a:endParaRPr>
          </a:p>
          <a:p>
            <a:pPr marL="342900" indent="-342900" algn="l">
              <a:lnSpc>
                <a:spcPct val="100000"/>
              </a:lnSpc>
              <a:buFont typeface="Wingdings" panose="05000000000000000000" charset="0"/>
              <a:buChar char="Ø"/>
            </a:pPr>
            <a:r>
              <a:rPr lang="en-US" altLang="en-US" sz="2600" b="1" dirty="0">
                <a:solidFill>
                  <a:srgbClr val="221195"/>
                </a:solidFill>
                <a:latin typeface="Times New Roman" panose="02020603050405020304" charset="0"/>
                <a:cs typeface="Times New Roman" panose="02020603050405020304" charset="0"/>
              </a:rPr>
              <a:t>Detecting and treating outliers</a:t>
            </a:r>
            <a:endParaRPr lang="en-US" altLang="en-US" sz="2600" b="1" dirty="0">
              <a:solidFill>
                <a:srgbClr val="221195"/>
              </a:solidFill>
              <a:latin typeface="Times New Roman" panose="02020603050405020304" charset="0"/>
              <a:cs typeface="Times New Roman" panose="02020603050405020304" charset="0"/>
            </a:endParaRPr>
          </a:p>
          <a:p>
            <a:pPr marL="342900" indent="-342900" algn="l">
              <a:lnSpc>
                <a:spcPct val="100000"/>
              </a:lnSpc>
              <a:buFont typeface="Wingdings" panose="05000000000000000000" charset="0"/>
              <a:buChar char="Ø"/>
            </a:pPr>
            <a:r>
              <a:rPr lang="en-US" altLang="en-US" sz="2600" b="1" dirty="0">
                <a:solidFill>
                  <a:srgbClr val="221195"/>
                </a:solidFill>
                <a:latin typeface="Times New Roman" panose="02020603050405020304" charset="0"/>
                <a:cs typeface="Times New Roman" panose="02020603050405020304" charset="0"/>
              </a:rPr>
              <a:t>Encoding categorical variables</a:t>
            </a:r>
            <a:endParaRPr lang="en-US" altLang="en-US" sz="2600" b="1" dirty="0">
              <a:solidFill>
                <a:srgbClr val="221195"/>
              </a:solidFill>
              <a:latin typeface="Times New Roman" panose="02020603050405020304" charset="0"/>
              <a:cs typeface="Times New Roman" panose="02020603050405020304" charset="0"/>
            </a:endParaRPr>
          </a:p>
          <a:p>
            <a:pPr marL="342900" indent="-342900" algn="l">
              <a:lnSpc>
                <a:spcPct val="100000"/>
              </a:lnSpc>
              <a:buFont typeface="Wingdings" panose="05000000000000000000" charset="0"/>
              <a:buChar char="Ø"/>
            </a:pPr>
            <a:r>
              <a:rPr lang="en-US" altLang="en-US" sz="2600" b="1" dirty="0">
                <a:solidFill>
                  <a:srgbClr val="221195"/>
                </a:solidFill>
                <a:latin typeface="Times New Roman" panose="02020603050405020304" charset="0"/>
                <a:cs typeface="Times New Roman" panose="02020603050405020304" charset="0"/>
              </a:rPr>
              <a:t>Scaling numerical variables where necessary</a:t>
            </a:r>
            <a:endParaRPr lang="en-US" altLang="en-US" sz="2600" b="1" dirty="0">
              <a:solidFill>
                <a:srgbClr val="221195"/>
              </a:solidFill>
              <a:latin typeface="Times New Roman" panose="02020603050405020304" charset="0"/>
              <a:cs typeface="Times New Roman" panose="02020603050405020304" charset="0"/>
            </a:endParaRPr>
          </a:p>
          <a:p>
            <a:pPr marL="342900" indent="-342900" algn="l">
              <a:lnSpc>
                <a:spcPct val="100000"/>
              </a:lnSpc>
              <a:buFont typeface="Wingdings" panose="05000000000000000000" charset="0"/>
              <a:buChar char="Ø"/>
            </a:pPr>
            <a:r>
              <a:rPr lang="en-US" altLang="en-US" sz="2600" b="1" dirty="0">
                <a:solidFill>
                  <a:srgbClr val="221195"/>
                </a:solidFill>
                <a:latin typeface="Times New Roman" panose="02020603050405020304" charset="0"/>
                <a:cs typeface="Times New Roman" panose="02020603050405020304" charset="0"/>
              </a:rPr>
              <a:t>Splitting the dataset into training and testing sets</a:t>
            </a:r>
            <a:endParaRPr lang="en-US" altLang="en-US" sz="2600" b="1" dirty="0">
              <a:solidFill>
                <a:srgbClr val="221195"/>
              </a:solidFill>
              <a:latin typeface="Times New Roman" panose="02020603050405020304" charset="0"/>
              <a:cs typeface="Times New Roman" panose="02020603050405020304" charset="0"/>
            </a:endParaRPr>
          </a:p>
        </p:txBody>
      </p:sp>
      <p:graphicFrame>
        <p:nvGraphicFramePr>
          <p:cNvPr id="26" name="图表 25"/>
          <p:cNvGraphicFramePr/>
          <p:nvPr/>
        </p:nvGraphicFramePr>
        <p:xfrm>
          <a:off x="4418059" y="3703361"/>
          <a:ext cx="3895166" cy="725595"/>
        </p:xfrm>
        <a:graphic>
          <a:graphicData uri="http://schemas.openxmlformats.org/drawingml/2006/chart">
            <c:chart xmlns:c="http://schemas.openxmlformats.org/drawingml/2006/chart" xmlns:r="http://schemas.openxmlformats.org/officeDocument/2006/relationships" r:id="rId1"/>
          </a:graphicData>
        </a:graphic>
      </p:graphicFrame>
      <p:sp>
        <p:nvSpPr>
          <p:cNvPr id="3" name="Text Box 2"/>
          <p:cNvSpPr txBox="1"/>
          <p:nvPr/>
        </p:nvSpPr>
        <p:spPr>
          <a:xfrm>
            <a:off x="1191895" y="255905"/>
            <a:ext cx="9781540" cy="922020"/>
          </a:xfrm>
          <a:prstGeom prst="rect">
            <a:avLst/>
          </a:prstGeom>
          <a:noFill/>
        </p:spPr>
        <p:txBody>
          <a:bodyPr wrap="square" rtlCol="0">
            <a:spAutoFit/>
          </a:bodyPr>
          <a:p>
            <a:r>
              <a:rPr lang="en-US" altLang="en-US" sz="5400" b="1">
                <a:solidFill>
                  <a:schemeClr val="bg1"/>
                </a:solidFill>
                <a:latin typeface="Times New Roman" panose="02020603050405020304" charset="0"/>
                <a:cs typeface="Times New Roman" panose="02020603050405020304" charset="0"/>
              </a:rPr>
              <a:t>Data Preprocessing</a:t>
            </a:r>
            <a:endParaRPr lang="en-US" altLang="en-US" sz="5400" b="1">
              <a:solidFill>
                <a:schemeClr val="bg1"/>
              </a:solidFill>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2"/>
          <a:srcRect t="8897" r="233"/>
          <a:stretch>
            <a:fillRect/>
          </a:stretch>
        </p:blipFill>
        <p:spPr>
          <a:xfrm>
            <a:off x="6015990" y="1964055"/>
            <a:ext cx="5709920" cy="4076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8000">
              <a:srgbClr val="190985"/>
            </a:gs>
            <a:gs pos="100000">
              <a:srgbClr val="1B59A7"/>
            </a:gs>
          </a:gsLst>
          <a:lin ang="16200000" scaled="1"/>
        </a:gradFill>
        <a:effectLst/>
      </p:bgPr>
    </p:bg>
    <p:spTree>
      <p:nvGrpSpPr>
        <p:cNvPr id="1" name=""/>
        <p:cNvGrpSpPr/>
        <p:nvPr/>
      </p:nvGrpSpPr>
      <p:grpSpPr>
        <a:xfrm>
          <a:off x="0" y="0"/>
          <a:ext cx="0" cy="0"/>
          <a:chOff x="0" y="0"/>
          <a:chExt cx="0" cy="0"/>
        </a:xfrm>
      </p:grpSpPr>
      <p:pic>
        <p:nvPicPr>
          <p:cNvPr id="40" name="图片 39"/>
          <p:cNvPicPr>
            <a:picLocks noChangeAspect="1"/>
          </p:cNvPicPr>
          <p:nvPr/>
        </p:nvPicPr>
        <p:blipFill>
          <a:blip r:embed="rId1"/>
          <a:srcRect r="24556" b="42640"/>
          <a:stretch>
            <a:fillRect/>
          </a:stretch>
        </p:blipFill>
        <p:spPr>
          <a:xfrm>
            <a:off x="7536125" y="3318155"/>
            <a:ext cx="4655875" cy="3539845"/>
          </a:xfrm>
          <a:custGeom>
            <a:avLst/>
            <a:gdLst>
              <a:gd name="connsiteX0" fmla="*/ 0 w 8596428"/>
              <a:gd name="connsiteY0" fmla="*/ 0 h 6535834"/>
              <a:gd name="connsiteX1" fmla="*/ 8596428 w 8596428"/>
              <a:gd name="connsiteY1" fmla="*/ 0 h 6535834"/>
              <a:gd name="connsiteX2" fmla="*/ 8596428 w 8596428"/>
              <a:gd name="connsiteY2" fmla="*/ 6535834 h 6535834"/>
              <a:gd name="connsiteX3" fmla="*/ 0 w 8596428"/>
              <a:gd name="connsiteY3" fmla="*/ 6535834 h 6535834"/>
            </a:gdLst>
            <a:ahLst/>
            <a:cxnLst>
              <a:cxn ang="0">
                <a:pos x="connsiteX0" y="connsiteY0"/>
              </a:cxn>
              <a:cxn ang="0">
                <a:pos x="connsiteX1" y="connsiteY1"/>
              </a:cxn>
              <a:cxn ang="0">
                <a:pos x="connsiteX2" y="connsiteY2"/>
              </a:cxn>
              <a:cxn ang="0">
                <a:pos x="connsiteX3" y="connsiteY3"/>
              </a:cxn>
            </a:cxnLst>
            <a:rect l="l" t="t" r="r" b="b"/>
            <a:pathLst>
              <a:path w="8596428" h="6535834">
                <a:moveTo>
                  <a:pt x="0" y="0"/>
                </a:moveTo>
                <a:lnTo>
                  <a:pt x="8596428" y="0"/>
                </a:lnTo>
                <a:lnTo>
                  <a:pt x="8596428" y="6535834"/>
                </a:lnTo>
                <a:lnTo>
                  <a:pt x="0" y="6535834"/>
                </a:lnTo>
                <a:close/>
              </a:path>
            </a:pathLst>
          </a:custGeom>
        </p:spPr>
      </p:pic>
      <p:sp>
        <p:nvSpPr>
          <p:cNvPr id="27" name="任意多边形: 形状 26"/>
          <p:cNvSpPr/>
          <p:nvPr/>
        </p:nvSpPr>
        <p:spPr>
          <a:xfrm>
            <a:off x="0" y="5852160"/>
            <a:ext cx="12192000" cy="1005840"/>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5" name="组合 44"/>
          <p:cNvGrpSpPr/>
          <p:nvPr/>
        </p:nvGrpSpPr>
        <p:grpSpPr>
          <a:xfrm>
            <a:off x="5788597" y="5447975"/>
            <a:ext cx="614806" cy="614806"/>
            <a:chOff x="1984442" y="5680952"/>
            <a:chExt cx="476655" cy="476655"/>
          </a:xfrm>
        </p:grpSpPr>
        <p:sp>
          <p:nvSpPr>
            <p:cNvPr id="28" name="椭圆 27"/>
            <p:cNvSpPr/>
            <p:nvPr/>
          </p:nvSpPr>
          <p:spPr>
            <a:xfrm>
              <a:off x="1984442" y="5680952"/>
              <a:ext cx="476655" cy="476655"/>
            </a:xfrm>
            <a:prstGeom prst="ellipse">
              <a:avLst/>
            </a:prstGeom>
            <a:solidFill>
              <a:srgbClr val="AF2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半闭框 29"/>
            <p:cNvSpPr/>
            <p:nvPr/>
          </p:nvSpPr>
          <p:spPr>
            <a:xfrm rot="13500593">
              <a:off x="2150860" y="5797397"/>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39" name="图片 38"/>
          <p:cNvPicPr>
            <a:picLocks noChangeAspect="1"/>
          </p:cNvPicPr>
          <p:nvPr/>
        </p:nvPicPr>
        <p:blipFill rotWithShape="1">
          <a:blip r:embed="rId2"/>
          <a:srcRect l="36713" t="47403" b="12967"/>
          <a:stretch>
            <a:fillRect/>
          </a:stretch>
        </p:blipFill>
        <p:spPr>
          <a:xfrm>
            <a:off x="0" y="-185"/>
            <a:ext cx="4286250" cy="2682924"/>
          </a:xfrm>
          <a:custGeom>
            <a:avLst/>
            <a:gdLst>
              <a:gd name="connsiteX0" fmla="*/ 0 w 4819031"/>
              <a:gd name="connsiteY0" fmla="*/ 0 h 3016412"/>
              <a:gd name="connsiteX1" fmla="*/ 4819031 w 4819031"/>
              <a:gd name="connsiteY1" fmla="*/ 0 h 3016412"/>
              <a:gd name="connsiteX2" fmla="*/ 4819031 w 4819031"/>
              <a:gd name="connsiteY2" fmla="*/ 3016412 h 3016412"/>
              <a:gd name="connsiteX3" fmla="*/ 0 w 4819031"/>
              <a:gd name="connsiteY3" fmla="*/ 3016412 h 3016412"/>
            </a:gdLst>
            <a:ahLst/>
            <a:cxnLst>
              <a:cxn ang="0">
                <a:pos x="connsiteX0" y="connsiteY0"/>
              </a:cxn>
              <a:cxn ang="0">
                <a:pos x="connsiteX1" y="connsiteY1"/>
              </a:cxn>
              <a:cxn ang="0">
                <a:pos x="connsiteX2" y="connsiteY2"/>
              </a:cxn>
              <a:cxn ang="0">
                <a:pos x="connsiteX3" y="connsiteY3"/>
              </a:cxn>
            </a:cxnLst>
            <a:rect l="l" t="t" r="r" b="b"/>
            <a:pathLst>
              <a:path w="4819031" h="3016412">
                <a:moveTo>
                  <a:pt x="0" y="0"/>
                </a:moveTo>
                <a:lnTo>
                  <a:pt x="4819031" y="0"/>
                </a:lnTo>
                <a:lnTo>
                  <a:pt x="4819031" y="3016412"/>
                </a:lnTo>
                <a:lnTo>
                  <a:pt x="0" y="3016412"/>
                </a:lnTo>
                <a:close/>
              </a:path>
            </a:pathLst>
          </a:custGeom>
        </p:spPr>
      </p:pic>
      <p:sp>
        <p:nvSpPr>
          <p:cNvPr id="6" name="Text Box 5"/>
          <p:cNvSpPr txBox="1"/>
          <p:nvPr/>
        </p:nvSpPr>
        <p:spPr>
          <a:xfrm>
            <a:off x="119380" y="342900"/>
            <a:ext cx="12191365" cy="1033145"/>
          </a:xfrm>
          <a:prstGeom prst="rect">
            <a:avLst/>
          </a:prstGeom>
          <a:noFill/>
        </p:spPr>
        <p:txBody>
          <a:bodyPr wrap="square" rtlCol="0">
            <a:noAutofit/>
          </a:bodyPr>
          <a:p>
            <a:pPr algn="ctr"/>
            <a:r>
              <a:rPr lang="en-US" altLang="en-US" sz="4000" b="1">
                <a:solidFill>
                  <a:schemeClr val="bg1"/>
                </a:solidFill>
                <a:latin typeface="Times New Roman" panose="02020603050405020304" charset="0"/>
                <a:cs typeface="Times New Roman" panose="02020603050405020304" charset="0"/>
              </a:rPr>
              <a:t>Exploratory Data Analysis</a:t>
            </a:r>
            <a:endParaRPr lang="en-US" altLang="en-US" sz="4000" b="1">
              <a:solidFill>
                <a:schemeClr val="bg1"/>
              </a:solidFill>
              <a:latin typeface="Times New Roman" panose="02020603050405020304" charset="0"/>
              <a:cs typeface="Times New Roman" panose="02020603050405020304" charset="0"/>
            </a:endParaRPr>
          </a:p>
        </p:txBody>
      </p:sp>
      <p:sp>
        <p:nvSpPr>
          <p:cNvPr id="8" name="Text Box 7"/>
          <p:cNvSpPr txBox="1"/>
          <p:nvPr/>
        </p:nvSpPr>
        <p:spPr>
          <a:xfrm>
            <a:off x="826135" y="1228725"/>
            <a:ext cx="9770110" cy="4284345"/>
          </a:xfrm>
          <a:prstGeom prst="rect">
            <a:avLst/>
          </a:prstGeom>
          <a:noFill/>
        </p:spPr>
        <p:txBody>
          <a:bodyPr wrap="square" rtlCol="0">
            <a:noAutofit/>
          </a:bodyPr>
          <a:p>
            <a:r>
              <a:rPr lang="en-US" altLang="en-US" sz="3200">
                <a:solidFill>
                  <a:schemeClr val="bg1"/>
                </a:solidFill>
                <a:latin typeface="Times New Roman" panose="02020603050405020304" charset="0"/>
                <a:cs typeface="Times New Roman" panose="02020603050405020304" charset="0"/>
              </a:rPr>
              <a:t>Major observations include:</a:t>
            </a:r>
            <a:endParaRPr lang="en-US" altLang="en-US" sz="32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Luxury brands generally have higher average selling prices.</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Newer vehicles tend to sell for more than older vehicles.</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Vehicles with lower mileage generally have higher prices</a:t>
            </a:r>
            <a:r>
              <a:rPr lang="en-GB" altLang="en-US" sz="2800">
                <a:solidFill>
                  <a:schemeClr val="bg1"/>
                </a:solidFill>
                <a:latin typeface="Times New Roman" panose="02020603050405020304" charset="0"/>
                <a:cs typeface="Times New Roman" panose="02020603050405020304" charset="0"/>
              </a:rPr>
              <a:t>.</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Accident history negatively affects resale value.</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Brand is one of the strongest predictors of price.</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Model year has a positive relationship with price.</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Mileage has a negative relationship with price.</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Most cars in the dataset are manufactured after 2015.</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704215"/>
            <a:ext cx="11023600" cy="829945"/>
          </a:xfrm>
          <a:prstGeom prst="rect">
            <a:avLst/>
          </a:prstGeom>
          <a:noFill/>
        </p:spPr>
        <p:txBody>
          <a:bodyPr wrap="square">
            <a:spAutoFit/>
          </a:bodyPr>
          <a:lstStyle/>
          <a:p>
            <a:pPr indent="0" algn="ctr">
              <a:buFont typeface="Wingdings" panose="05000000000000000000" charset="0"/>
              <a:buNone/>
            </a:pPr>
            <a:r>
              <a:rPr lang="en-US" altLang="en-US" sz="4800" dirty="0">
                <a:solidFill>
                  <a:schemeClr val="bg1"/>
                </a:solidFill>
                <a:latin typeface="+mj-lt"/>
                <a:ea typeface="Gilroy" panose="00000400000000000000" charset="0"/>
              </a:rPr>
              <a:t>Feature Engineering</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702435"/>
            <a:ext cx="11772900" cy="4686935"/>
          </a:xfrm>
          <a:prstGeom prst="rect">
            <a:avLst/>
          </a:prstGeom>
          <a:noFill/>
        </p:spPr>
        <p:txBody>
          <a:bodyPr wrap="square" rtlCol="0">
            <a:noAutofit/>
          </a:bodyPr>
          <a:p>
            <a:pPr marL="342900" indent="-3429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Additional features were created to improve the predictive capability of the Machine Learning models.</a:t>
            </a:r>
            <a:endParaRPr lang="en-US" altLang="en-US" sz="2800">
              <a:solidFill>
                <a:schemeClr val="bg1"/>
              </a:solidFill>
              <a:latin typeface="Times New Roman" panose="02020603050405020304" charset="0"/>
              <a:cs typeface="Times New Roman" panose="02020603050405020304" charset="0"/>
            </a:endParaRPr>
          </a:p>
          <a:p>
            <a:pPr marL="342900"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The newly engineered features include:</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Vehicle Age</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Mileage per Year</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Luxury Brand Indicator</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Vehicle Age Category</a:t>
            </a:r>
            <a:endParaRPr lang="en-US" altLang="en-US" sz="2800">
              <a:solidFill>
                <a:schemeClr val="bg1"/>
              </a:solidFill>
              <a:latin typeface="Times New Roman" panose="02020603050405020304" charset="0"/>
              <a:cs typeface="Times New Roman" panose="02020603050405020304" charset="0"/>
            </a:endParaRPr>
          </a:p>
          <a:p>
            <a:pPr marL="342900" indent="-3429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These engineered features capture hidden relationships within the dataset and significantly improve prediction accuracy.</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704215"/>
            <a:ext cx="11023600" cy="1198880"/>
          </a:xfrm>
          <a:prstGeom prst="rect">
            <a:avLst/>
          </a:prstGeom>
          <a:noFill/>
        </p:spPr>
        <p:txBody>
          <a:bodyPr wrap="square">
            <a:spAutoFit/>
          </a:bodyPr>
          <a:lstStyle/>
          <a:p>
            <a:pPr marL="342900" indent="-342900">
              <a:buFont typeface="Wingdings" panose="05000000000000000000" charset="0"/>
              <a:buChar char="v"/>
            </a:pPr>
            <a:r>
              <a:rPr lang="en-US" altLang="en-US" sz="2400" dirty="0">
                <a:solidFill>
                  <a:schemeClr val="bg1"/>
                </a:solidFill>
                <a:latin typeface="+mj-lt"/>
                <a:ea typeface="Gilroy" panose="00000400000000000000" charset="0"/>
              </a:rPr>
              <a:t>After performing </a:t>
            </a:r>
            <a:r>
              <a:rPr lang="en-GB" altLang="en-US" sz="2400" dirty="0">
                <a:solidFill>
                  <a:schemeClr val="bg1"/>
                </a:solidFill>
                <a:latin typeface="+mj-lt"/>
                <a:ea typeface="Gilroy" panose="00000400000000000000" charset="0"/>
              </a:rPr>
              <a:t>Feature Engineerung</a:t>
            </a:r>
            <a:r>
              <a:rPr lang="en-US" altLang="en-US" sz="2400" dirty="0">
                <a:solidFill>
                  <a:schemeClr val="bg1"/>
                </a:solidFill>
                <a:latin typeface="+mj-lt"/>
                <a:ea typeface="Gilroy" panose="00000400000000000000" charset="0"/>
              </a:rPr>
              <a:t>, the dataset was cleaned and prepared for machine learning. Data quality issues were identified and resolved to improve model performance.</a:t>
            </a:r>
            <a:endParaRPr lang="en-US" altLang="en-US" sz="2400" dirty="0">
              <a:solidFill>
                <a:schemeClr val="bg1"/>
              </a:solidFill>
              <a:latin typeface="+mj-lt"/>
              <a:ea typeface="Gilroy" panose="00000400000000000000" charset="0"/>
            </a:endParaRPr>
          </a:p>
        </p:txBody>
      </p:sp>
      <p:pic>
        <p:nvPicPr>
          <p:cNvPr id="3" name="Picture 2"/>
          <p:cNvPicPr>
            <a:picLocks noChangeAspect="1"/>
          </p:cNvPicPr>
          <p:nvPr/>
        </p:nvPicPr>
        <p:blipFill>
          <a:blip r:embed="rId1"/>
          <a:stretch>
            <a:fillRect/>
          </a:stretch>
        </p:blipFill>
        <p:spPr>
          <a:xfrm>
            <a:off x="1345565" y="2417445"/>
            <a:ext cx="9214485" cy="29063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indent="0" algn="ctr">
              <a:buFont typeface="Wingdings" panose="05000000000000000000" charset="0"/>
              <a:buNone/>
            </a:pPr>
            <a:r>
              <a:rPr lang="en-US" altLang="en-US" sz="4800" dirty="0">
                <a:solidFill>
                  <a:schemeClr val="bg1"/>
                </a:solidFill>
                <a:latin typeface="+mj-lt"/>
                <a:ea typeface="Gilroy" panose="00000400000000000000" charset="0"/>
              </a:rPr>
              <a:t>Machine Learning Models</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485900"/>
            <a:ext cx="11772900" cy="5182235"/>
          </a:xfrm>
          <a:prstGeom prst="rect">
            <a:avLst/>
          </a:prstGeom>
          <a:noFill/>
        </p:spPr>
        <p:txBody>
          <a:bodyPr wrap="square" rtlCol="0">
            <a:noAutofit/>
          </a:bodyPr>
          <a:p>
            <a:pPr marL="45720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Several regression algorithms were trained and evaluated to identify the most suitable prediction model.</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The models include:</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Linear Regression</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Ridge Regression</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Lasso Regression</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Decision Tree Regressor</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Random Forest Regressor</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Gradient Boosting Regressor</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Extra Trees Regressor</a:t>
            </a:r>
            <a:endParaRPr lang="en-US" altLang="en-US" sz="2800">
              <a:solidFill>
                <a:schemeClr val="bg1"/>
              </a:solidFill>
              <a:latin typeface="Times New Roman" panose="02020603050405020304" charset="0"/>
              <a:cs typeface="Times New Roman" panose="02020603050405020304" charset="0"/>
            </a:endParaRPr>
          </a:p>
          <a:p>
            <a:pPr marL="342900" indent="-3429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Each model was trained using the same processed dataset and evaluated using identical performance metrics to ensure a fair comparison.</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indent="0" algn="ctr">
              <a:buFont typeface="Wingdings" panose="05000000000000000000" charset="0"/>
              <a:buNone/>
            </a:pPr>
            <a:r>
              <a:rPr lang="en-US" altLang="en-US" sz="4800" dirty="0">
                <a:solidFill>
                  <a:schemeClr val="bg1"/>
                </a:solidFill>
                <a:latin typeface="+mj-lt"/>
                <a:ea typeface="Gilroy" panose="00000400000000000000" charset="0"/>
              </a:rPr>
              <a:t>Model Evaluation</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485900"/>
            <a:ext cx="11772900" cy="5182235"/>
          </a:xfrm>
          <a:prstGeom prst="rect">
            <a:avLst/>
          </a:prstGeom>
          <a:noFill/>
        </p:spPr>
        <p:txBody>
          <a:bodyPr wrap="square" rtlCol="0">
            <a:noAutofit/>
          </a:bodyPr>
          <a:p>
            <a:pPr marL="45720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trained models were evaluated using widely accepted regression performance metrics.</a:t>
            </a:r>
            <a:endParaRPr lang="en-US" altLang="en-US" sz="2800">
              <a:solidFill>
                <a:schemeClr val="bg1"/>
              </a:solidFill>
              <a:latin typeface="Times New Roman" panose="02020603050405020304" charset="0"/>
              <a:cs typeface="Times New Roman" panose="02020603050405020304" charset="0"/>
            </a:endParaRPr>
          </a:p>
          <a:p>
            <a:pPr marL="800100" lvl="1"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The </a:t>
            </a:r>
            <a:r>
              <a:rPr lang="en-GB" altLang="en-US" sz="2800">
                <a:solidFill>
                  <a:schemeClr val="bg1"/>
                </a:solidFill>
                <a:latin typeface="Times New Roman" panose="02020603050405020304" charset="0"/>
                <a:cs typeface="Times New Roman" panose="02020603050405020304" charset="0"/>
              </a:rPr>
              <a:t>metrics </a:t>
            </a:r>
            <a:r>
              <a:rPr lang="en-US" altLang="en-US" sz="2800">
                <a:solidFill>
                  <a:schemeClr val="bg1"/>
                </a:solidFill>
                <a:latin typeface="Times New Roman" panose="02020603050405020304" charset="0"/>
                <a:cs typeface="Times New Roman" panose="02020603050405020304" charset="0"/>
              </a:rPr>
              <a:t>include:</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Mean Absolute Error (MAE</a:t>
            </a:r>
            <a:r>
              <a:rPr lang="en-GB" altLang="en-US" sz="2800">
                <a:solidFill>
                  <a:schemeClr val="bg1"/>
                </a:solidFill>
                <a:latin typeface="Times New Roman" panose="02020603050405020304" charset="0"/>
                <a:cs typeface="Times New Roman" panose="02020603050405020304" charset="0"/>
              </a:rPr>
              <a:t>):-</a:t>
            </a:r>
            <a:r>
              <a:rPr lang="en-US" altLang="en-US" sz="2800">
                <a:solidFill>
                  <a:schemeClr val="bg1"/>
                </a:solidFill>
                <a:latin typeface="Times New Roman" panose="02020603050405020304" charset="0"/>
                <a:cs typeface="Times New Roman" panose="02020603050405020304" charset="0"/>
              </a:rPr>
              <a:t>Measures the average prediction error</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Root Mean Square Error (RMSE)</a:t>
            </a:r>
            <a:r>
              <a:rPr lang="en-GB" altLang="en-US" sz="2800">
                <a:solidFill>
                  <a:schemeClr val="bg1"/>
                </a:solidFill>
                <a:latin typeface="Times New Roman" panose="02020603050405020304" charset="0"/>
                <a:cs typeface="Times New Roman" panose="02020603050405020304" charset="0"/>
              </a:rPr>
              <a:t>:-</a:t>
            </a:r>
            <a:r>
              <a:rPr lang="en-US" altLang="en-US" sz="2800">
                <a:solidFill>
                  <a:schemeClr val="bg1"/>
                </a:solidFill>
                <a:latin typeface="Times New Roman" panose="02020603050405020304" charset="0"/>
                <a:cs typeface="Times New Roman" panose="02020603050405020304" charset="0"/>
              </a:rPr>
              <a:t>Measures prediction accuracy while giving greater weight to large errors.</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R² Score</a:t>
            </a:r>
            <a:r>
              <a:rPr lang="en-GB" altLang="en-US" sz="2800">
                <a:solidFill>
                  <a:schemeClr val="bg1"/>
                </a:solidFill>
                <a:latin typeface="Times New Roman" panose="02020603050405020304" charset="0"/>
                <a:cs typeface="Times New Roman" panose="02020603050405020304" charset="0"/>
              </a:rPr>
              <a:t>:-</a:t>
            </a:r>
            <a:r>
              <a:rPr lang="en-US" altLang="en-US" sz="2800">
                <a:solidFill>
                  <a:schemeClr val="bg1"/>
                </a:solidFill>
                <a:latin typeface="Times New Roman" panose="02020603050405020304" charset="0"/>
                <a:cs typeface="Times New Roman" panose="02020603050405020304" charset="0"/>
              </a:rPr>
              <a:t>Measures how well the model explains the variation in selling prices.</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GB" altLang="en-US" sz="2800">
                <a:solidFill>
                  <a:schemeClr val="bg1"/>
                </a:solidFill>
                <a:latin typeface="Times New Roman" panose="02020603050405020304" charset="0"/>
                <a:cs typeface="Times New Roman" panose="02020603050405020304" charset="0"/>
              </a:rPr>
              <a:t>etc.</a:t>
            </a:r>
            <a:endParaRPr lang="en-US" altLang="en-US" sz="2800">
              <a:solidFill>
                <a:schemeClr val="bg1"/>
              </a:solidFill>
              <a:latin typeface="Times New Roman" panose="02020603050405020304" charset="0"/>
              <a:cs typeface="Times New Roman" panose="02020603050405020304" charset="0"/>
            </a:endParaRPr>
          </a:p>
          <a:p>
            <a:pPr marL="342900" indent="-3429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a:t>
            </a:r>
            <a:r>
              <a:rPr lang="en-GB" altLang="en-US" sz="2800">
                <a:solidFill>
                  <a:schemeClr val="bg1"/>
                </a:solidFill>
                <a:latin typeface="Times New Roman" panose="02020603050405020304" charset="0"/>
                <a:cs typeface="Times New Roman" panose="02020603050405020304" charset="0"/>
              </a:rPr>
              <a:t>Ridge </a:t>
            </a:r>
            <a:r>
              <a:rPr lang="en-US" altLang="en-US" sz="2800">
                <a:solidFill>
                  <a:schemeClr val="bg1"/>
                </a:solidFill>
                <a:latin typeface="Times New Roman" panose="02020603050405020304" charset="0"/>
                <a:cs typeface="Times New Roman" panose="02020603050405020304" charset="0"/>
              </a:rPr>
              <a:t>Regress</a:t>
            </a:r>
            <a:r>
              <a:rPr lang="en-GB" altLang="en-US" sz="2800">
                <a:solidFill>
                  <a:schemeClr val="bg1"/>
                </a:solidFill>
                <a:latin typeface="Times New Roman" panose="02020603050405020304" charset="0"/>
                <a:cs typeface="Times New Roman" panose="02020603050405020304" charset="0"/>
              </a:rPr>
              <a:t>ion</a:t>
            </a:r>
            <a:r>
              <a:rPr lang="en-US" altLang="en-US" sz="2800">
                <a:solidFill>
                  <a:schemeClr val="bg1"/>
                </a:solidFill>
                <a:latin typeface="Times New Roman" panose="02020603050405020304" charset="0"/>
                <a:cs typeface="Times New Roman" panose="02020603050405020304" charset="0"/>
              </a:rPr>
              <a:t> achieved the highest prediction accuracy and demonstrated superior generalization performance compared to the other algorithms.</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indent="0" algn="ctr">
              <a:buFont typeface="Wingdings" panose="05000000000000000000" charset="0"/>
              <a:buNone/>
            </a:pPr>
            <a:r>
              <a:rPr lang="en-US" altLang="en-US" sz="4800" dirty="0">
                <a:solidFill>
                  <a:schemeClr val="bg1"/>
                </a:solidFill>
                <a:latin typeface="+mj-lt"/>
                <a:ea typeface="Gilroy" panose="00000400000000000000" charset="0"/>
              </a:rPr>
              <a:t>Model Evaluation</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485900"/>
            <a:ext cx="11772900" cy="5182235"/>
          </a:xfrm>
          <a:prstGeom prst="rect">
            <a:avLst/>
          </a:prstGeom>
          <a:noFill/>
        </p:spPr>
        <p:txBody>
          <a:bodyPr wrap="square" rtlCol="0">
            <a:noAutofit/>
          </a:bodyPr>
          <a:p>
            <a:pPr indent="0">
              <a:buFont typeface="Wingdings" panose="05000000000000000000" charset="0"/>
              <a:buNone/>
            </a:pPr>
            <a:endParaRPr lang="en-US" altLang="en-US" sz="2800">
              <a:solidFill>
                <a:schemeClr val="bg1"/>
              </a:solidFill>
              <a:latin typeface="Times New Roman" panose="02020603050405020304" charset="0"/>
              <a:cs typeface="Times New Roman" panose="02020603050405020304" charset="0"/>
            </a:endParaRPr>
          </a:p>
        </p:txBody>
      </p:sp>
      <p:pic>
        <p:nvPicPr>
          <p:cNvPr id="3" name="Picture 2"/>
          <p:cNvPicPr>
            <a:picLocks noChangeAspect="1"/>
          </p:cNvPicPr>
          <p:nvPr/>
        </p:nvPicPr>
        <p:blipFill>
          <a:blip r:embed="rId1"/>
          <a:stretch>
            <a:fillRect/>
          </a:stretch>
        </p:blipFill>
        <p:spPr>
          <a:xfrm>
            <a:off x="795655" y="1385570"/>
            <a:ext cx="10601325" cy="49625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indent="0" algn="ctr">
              <a:buFont typeface="Wingdings" panose="05000000000000000000" charset="0"/>
              <a:buNone/>
            </a:pPr>
            <a:r>
              <a:rPr lang="en-US" altLang="en-US" sz="4800" dirty="0">
                <a:solidFill>
                  <a:schemeClr val="bg1"/>
                </a:solidFill>
                <a:latin typeface="+mj-lt"/>
                <a:ea typeface="Gilroy" panose="00000400000000000000" charset="0"/>
              </a:rPr>
              <a:t>Model Evaluation</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485900"/>
            <a:ext cx="11772900" cy="5182235"/>
          </a:xfrm>
          <a:prstGeom prst="rect">
            <a:avLst/>
          </a:prstGeom>
          <a:noFill/>
        </p:spPr>
        <p:txBody>
          <a:bodyPr wrap="square" rtlCol="0">
            <a:noAutofit/>
          </a:bodyPr>
          <a:p>
            <a:pPr indent="0">
              <a:buFont typeface="Wingdings" panose="05000000000000000000" charset="0"/>
              <a:buNone/>
            </a:pPr>
            <a:endParaRPr lang="en-US" altLang="en-US" sz="2800">
              <a:solidFill>
                <a:schemeClr val="bg1"/>
              </a:solidFill>
              <a:latin typeface="Times New Roman" panose="02020603050405020304" charset="0"/>
              <a:cs typeface="Times New Roman" panose="02020603050405020304" charset="0"/>
            </a:endParaRPr>
          </a:p>
        </p:txBody>
      </p:sp>
      <p:sp>
        <p:nvSpPr>
          <p:cNvPr id="3" name="Rectangle 2"/>
          <p:cNvSpPr/>
          <p:nvPr/>
        </p:nvSpPr>
        <p:spPr>
          <a:xfrm>
            <a:off x="167640" y="1459865"/>
            <a:ext cx="11791315" cy="521017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4" name="Picture 3"/>
          <p:cNvPicPr>
            <a:picLocks noChangeAspect="1"/>
          </p:cNvPicPr>
          <p:nvPr/>
        </p:nvPicPr>
        <p:blipFill>
          <a:blip r:embed="rId1"/>
          <a:stretch>
            <a:fillRect/>
          </a:stretch>
        </p:blipFill>
        <p:spPr>
          <a:xfrm>
            <a:off x="699770" y="1459865"/>
            <a:ext cx="10791825" cy="50653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indent="0" algn="ctr">
              <a:buFont typeface="Wingdings" panose="05000000000000000000" charset="0"/>
              <a:buNone/>
            </a:pPr>
            <a:r>
              <a:rPr lang="en-US" altLang="en-US" sz="4800" dirty="0">
                <a:solidFill>
                  <a:schemeClr val="bg1"/>
                </a:solidFill>
                <a:latin typeface="+mj-lt"/>
                <a:ea typeface="Gilroy" panose="00000400000000000000" charset="0"/>
              </a:rPr>
              <a:t>Model Evaluation</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485900"/>
            <a:ext cx="11772900" cy="5182235"/>
          </a:xfrm>
          <a:prstGeom prst="rect">
            <a:avLst/>
          </a:prstGeom>
          <a:noFill/>
        </p:spPr>
        <p:txBody>
          <a:bodyPr wrap="square" rtlCol="0">
            <a:noAutofit/>
          </a:bodyPr>
          <a:p>
            <a:pPr marL="45720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After comparing all regression algorithms, the Random Forest Regressor was selected as the final prediction model.</a:t>
            </a:r>
            <a:endParaRPr lang="en-US" altLang="en-US" sz="2800">
              <a:solidFill>
                <a:schemeClr val="bg1"/>
              </a:solidFill>
              <a:latin typeface="Times New Roman" panose="02020603050405020304" charset="0"/>
              <a:cs typeface="Times New Roman" panose="02020603050405020304" charset="0"/>
            </a:endParaRPr>
          </a:p>
          <a:p>
            <a:pPr marL="914400" lvl="1"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Reasons for selection:</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Strong generalization capability</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 Mean </a:t>
            </a:r>
            <a:r>
              <a:rPr lang="en-GB" altLang="en-US" sz="2800">
                <a:solidFill>
                  <a:schemeClr val="bg1"/>
                </a:solidFill>
                <a:latin typeface="Times New Roman" panose="02020603050405020304" charset="0"/>
                <a:cs typeface="Times New Roman" panose="02020603050405020304" charset="0"/>
              </a:rPr>
              <a:t>Absolute </a:t>
            </a:r>
            <a:r>
              <a:rPr lang="en-US" altLang="en-US" sz="2800">
                <a:solidFill>
                  <a:schemeClr val="bg1"/>
                </a:solidFill>
                <a:latin typeface="Times New Roman" panose="02020603050405020304" charset="0"/>
                <a:cs typeface="Times New Roman" panose="02020603050405020304" charset="0"/>
              </a:rPr>
              <a:t>Error (</a:t>
            </a:r>
            <a:r>
              <a:rPr lang="en-GB" altLang="en-US" sz="2800">
                <a:solidFill>
                  <a:schemeClr val="bg1"/>
                </a:solidFill>
                <a:latin typeface="Times New Roman" panose="02020603050405020304" charset="0"/>
                <a:cs typeface="Times New Roman" panose="02020603050405020304" charset="0"/>
              </a:rPr>
              <a:t>MAE</a:t>
            </a:r>
            <a:r>
              <a:rPr lang="en-US" altLang="en-US" sz="2800">
                <a:solidFill>
                  <a:schemeClr val="bg1"/>
                </a:solidFill>
                <a:latin typeface="Times New Roman" panose="02020603050405020304" charset="0"/>
                <a:cs typeface="Times New Roman" panose="02020603050405020304" charset="0"/>
              </a:rPr>
              <a:t>)</a:t>
            </a:r>
            <a:r>
              <a:rPr lang="en-GB" altLang="en-US" sz="2800">
                <a:solidFill>
                  <a:schemeClr val="bg1"/>
                </a:solidFill>
                <a:latin typeface="Times New Roman" panose="02020603050405020304" charset="0"/>
                <a:cs typeface="Times New Roman" panose="02020603050405020304" charset="0"/>
              </a:rPr>
              <a:t>:-</a:t>
            </a:r>
            <a:r>
              <a:rPr lang="en-US" altLang="en-US" sz="2800">
                <a:solidFill>
                  <a:schemeClr val="bg1"/>
                </a:solidFill>
                <a:latin typeface="Times New Roman" panose="02020603050405020304" charset="0"/>
                <a:cs typeface="Times New Roman" panose="02020603050405020304" charset="0"/>
              </a:rPr>
              <a:t>Lowest prediction error</a:t>
            </a:r>
            <a:r>
              <a:rPr lang="en-US" altLang="en-US" sz="2800">
                <a:solidFill>
                  <a:schemeClr val="bg1"/>
                </a:solidFill>
                <a:latin typeface="Times New Roman" panose="02020603050405020304" charset="0"/>
                <a:cs typeface="Times New Roman" panose="02020603050405020304" charset="0"/>
              </a:rPr>
              <a:t>.</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GB" sz="2800">
                <a:solidFill>
                  <a:schemeClr val="bg1"/>
                </a:solidFill>
                <a:latin typeface="Times New Roman" panose="02020603050405020304" charset="0"/>
                <a:cs typeface="Times New Roman" panose="02020603050405020304" charset="0"/>
                <a:sym typeface="+mn-ea"/>
              </a:rPr>
              <a:t>Hieghest </a:t>
            </a:r>
            <a:r>
              <a:rPr lang="en-US" altLang="en-US" sz="2800">
                <a:solidFill>
                  <a:schemeClr val="bg1"/>
                </a:solidFill>
                <a:latin typeface="Times New Roman" panose="02020603050405020304" charset="0"/>
                <a:cs typeface="Times New Roman" panose="02020603050405020304" charset="0"/>
              </a:rPr>
              <a:t>R² Score</a:t>
            </a:r>
            <a:r>
              <a:rPr lang="en-GB" altLang="en-US" sz="2800">
                <a:solidFill>
                  <a:schemeClr val="bg1"/>
                </a:solidFill>
                <a:latin typeface="Times New Roman" panose="02020603050405020304" charset="0"/>
                <a:cs typeface="Times New Roman" panose="02020603050405020304" charset="0"/>
              </a:rPr>
              <a:t>:-</a:t>
            </a:r>
            <a:r>
              <a:rPr lang="en-US" altLang="en-US" sz="2800">
                <a:solidFill>
                  <a:schemeClr val="bg1"/>
                </a:solidFill>
                <a:latin typeface="Times New Roman" panose="02020603050405020304" charset="0"/>
                <a:cs typeface="Times New Roman" panose="02020603050405020304" charset="0"/>
                <a:sym typeface="+mn-ea"/>
              </a:rPr>
              <a:t>Highest prediction accuracy</a:t>
            </a:r>
            <a:r>
              <a:rPr lang="en-GB" altLang="en-US" sz="2800">
                <a:solidFill>
                  <a:schemeClr val="bg1"/>
                </a:solidFill>
                <a:latin typeface="Times New Roman" panose="02020603050405020304" charset="0"/>
                <a:cs typeface="Times New Roman" panose="02020603050405020304" charset="0"/>
                <a:sym typeface="+mn-ea"/>
              </a:rPr>
              <a:t>.</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GB" altLang="en-US" sz="2800">
                <a:solidFill>
                  <a:schemeClr val="bg1"/>
                </a:solidFill>
                <a:latin typeface="Times New Roman" panose="02020603050405020304" charset="0"/>
                <a:cs typeface="Times New Roman" panose="02020603050405020304" charset="0"/>
              </a:rPr>
              <a:t>etc.</a:t>
            </a:r>
            <a:endParaRPr lang="en-US" altLang="en-US" sz="2800">
              <a:solidFill>
                <a:schemeClr val="bg1"/>
              </a:solidFill>
              <a:latin typeface="Times New Roman" panose="02020603050405020304" charset="0"/>
              <a:cs typeface="Times New Roman" panose="02020603050405020304" charset="0"/>
            </a:endParaRPr>
          </a:p>
          <a:p>
            <a:pPr marL="342900" indent="-3429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trained model was saved using Joblib and integrated into the Streamlit application for real-time predictions.</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34000">
              <a:srgbClr val="1B56A6"/>
            </a:gs>
            <a:gs pos="100000">
              <a:srgbClr val="221195"/>
            </a:gs>
          </a:gsLst>
          <a:lin ang="5400000" scaled="1"/>
          <a:tileRect/>
        </a:gradFill>
        <a:effectLst/>
      </p:bgPr>
    </p:bg>
    <p:spTree>
      <p:nvGrpSpPr>
        <p:cNvPr id="1" name=""/>
        <p:cNvGrpSpPr/>
        <p:nvPr/>
      </p:nvGrpSpPr>
      <p:grpSpPr>
        <a:xfrm>
          <a:off x="0" y="0"/>
          <a:ext cx="0" cy="0"/>
          <a:chOff x="0" y="0"/>
          <a:chExt cx="0" cy="0"/>
        </a:xfrm>
      </p:grpSpPr>
      <p:sp>
        <p:nvSpPr>
          <p:cNvPr id="13" name="任意多边形: 形状 12"/>
          <p:cNvSpPr/>
          <p:nvPr/>
        </p:nvSpPr>
        <p:spPr>
          <a:xfrm>
            <a:off x="0" y="2402969"/>
            <a:ext cx="12192000" cy="4455030"/>
          </a:xfrm>
          <a:custGeom>
            <a:avLst/>
            <a:gdLst>
              <a:gd name="connsiteX0" fmla="*/ 0 w 12192000"/>
              <a:gd name="connsiteY0" fmla="*/ 0 h 4704110"/>
              <a:gd name="connsiteX1" fmla="*/ 12192000 w 12192000"/>
              <a:gd name="connsiteY1" fmla="*/ 0 h 4704110"/>
              <a:gd name="connsiteX2" fmla="*/ 12192000 w 12192000"/>
              <a:gd name="connsiteY2" fmla="*/ 4704110 h 4704110"/>
              <a:gd name="connsiteX3" fmla="*/ 0 w 12192000"/>
              <a:gd name="connsiteY3" fmla="*/ 4704110 h 4704110"/>
            </a:gdLst>
            <a:ahLst/>
            <a:cxnLst>
              <a:cxn ang="0">
                <a:pos x="connsiteX0" y="connsiteY0"/>
              </a:cxn>
              <a:cxn ang="0">
                <a:pos x="connsiteX1" y="connsiteY1"/>
              </a:cxn>
              <a:cxn ang="0">
                <a:pos x="connsiteX2" y="connsiteY2"/>
              </a:cxn>
              <a:cxn ang="0">
                <a:pos x="connsiteX3" y="connsiteY3"/>
              </a:cxn>
            </a:cxnLst>
            <a:rect l="l" t="t" r="r" b="b"/>
            <a:pathLst>
              <a:path w="12192000" h="4704110">
                <a:moveTo>
                  <a:pt x="0" y="0"/>
                </a:moveTo>
                <a:lnTo>
                  <a:pt x="12192000" y="0"/>
                </a:lnTo>
                <a:lnTo>
                  <a:pt x="12192000" y="4704110"/>
                </a:lnTo>
                <a:lnTo>
                  <a:pt x="0" y="470411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5" name="矩形: 圆角 24"/>
          <p:cNvSpPr/>
          <p:nvPr/>
        </p:nvSpPr>
        <p:spPr>
          <a:xfrm>
            <a:off x="1149850" y="3212676"/>
            <a:ext cx="2943180" cy="1250494"/>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rgbClr val="020457"/>
                </a:solidFill>
                <a:latin typeface="Times New Roman" panose="02020603050405020304" charset="0"/>
                <a:cs typeface="Times New Roman" panose="02020603050405020304" charset="0"/>
              </a:rPr>
              <a:t>Interactive user interface</a:t>
            </a:r>
            <a:endParaRPr lang="en-US" altLang="en-US" sz="2400" b="1" dirty="0">
              <a:solidFill>
                <a:srgbClr val="020457"/>
              </a:solidFill>
              <a:latin typeface="Times New Roman" panose="02020603050405020304" charset="0"/>
              <a:cs typeface="Times New Roman" panose="02020603050405020304" charset="0"/>
            </a:endParaRPr>
          </a:p>
        </p:txBody>
      </p:sp>
      <p:grpSp>
        <p:nvGrpSpPr>
          <p:cNvPr id="32" name="组合 31"/>
          <p:cNvGrpSpPr/>
          <p:nvPr/>
        </p:nvGrpSpPr>
        <p:grpSpPr>
          <a:xfrm>
            <a:off x="731838" y="2971018"/>
            <a:ext cx="749300" cy="749300"/>
            <a:chOff x="731838" y="3101617"/>
            <a:chExt cx="748799" cy="748799"/>
          </a:xfrm>
        </p:grpSpPr>
        <p:sp>
          <p:nvSpPr>
            <p:cNvPr id="22" name="椭圆 21"/>
            <p:cNvSpPr/>
            <p:nvPr/>
          </p:nvSpPr>
          <p:spPr>
            <a:xfrm>
              <a:off x="731838" y="3101617"/>
              <a:ext cx="748799" cy="748799"/>
            </a:xfrm>
            <a:prstGeom prst="ellipse">
              <a:avLst/>
            </a:prstGeom>
            <a:solidFill>
              <a:srgbClr val="AF2E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731838" y="3214581"/>
              <a:ext cx="659839" cy="522870"/>
            </a:xfrm>
            <a:prstGeom prst="rect">
              <a:avLst/>
            </a:prstGeom>
            <a:noFill/>
          </p:spPr>
          <p:txBody>
            <a:bodyPr wrap="square">
              <a:spAutoFit/>
            </a:bodyPr>
            <a:lstStyle>
              <a:defPPr>
                <a:defRPr lang="zh-CN"/>
              </a:defPPr>
              <a:lvl1pPr fontAlgn="ctr">
                <a:defRPr sz="4800" b="0" i="0" u="none" strike="noStrike">
                  <a:solidFill>
                    <a:schemeClr val="bg1"/>
                  </a:solidFill>
                  <a:effectLst/>
                  <a:latin typeface="+mj-lt"/>
                  <a:ea typeface="Microsoft YaHei" panose="020B0503020204020204" pitchFamily="34" charset="-122"/>
                </a:defRPr>
              </a:lvl1pPr>
            </a:lstStyle>
            <a:p>
              <a:pPr algn="ctr"/>
              <a:r>
                <a:rPr lang="en-US" altLang="zh-CN" sz="2800" dirty="0">
                  <a:ea typeface="Arial" panose="020B0604020202020204" pitchFamily="34" charset="0"/>
                </a:rPr>
                <a:t>01</a:t>
              </a:r>
              <a:endParaRPr lang="zh-CN" altLang="en-US" sz="2800" dirty="0">
                <a:ea typeface="Arial" panose="020B0604020202020204" pitchFamily="34" charset="0"/>
              </a:endParaRPr>
            </a:p>
          </p:txBody>
        </p:sp>
      </p:grpSp>
      <p:sp>
        <p:nvSpPr>
          <p:cNvPr id="37" name="矩形: 圆角 36"/>
          <p:cNvSpPr/>
          <p:nvPr/>
        </p:nvSpPr>
        <p:spPr>
          <a:xfrm>
            <a:off x="4836477" y="3212676"/>
            <a:ext cx="2943180" cy="1250494"/>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rgbClr val="020457"/>
                </a:solidFill>
                <a:latin typeface="Times New Roman" panose="02020603050405020304" charset="0"/>
                <a:cs typeface="Times New Roman" panose="02020603050405020304" charset="0"/>
              </a:rPr>
              <a:t>Easy vehicle information input</a:t>
            </a:r>
            <a:r>
              <a:rPr lang="en-GB" altLang="en-US" sz="2400" b="1" dirty="0">
                <a:solidFill>
                  <a:srgbClr val="020457"/>
                </a:solidFill>
                <a:latin typeface="Times New Roman" panose="02020603050405020304" charset="0"/>
                <a:cs typeface="Times New Roman" panose="02020603050405020304" charset="0"/>
              </a:rPr>
              <a:t> form</a:t>
            </a:r>
            <a:endParaRPr lang="en-GB" altLang="en-US" sz="2400" b="1" dirty="0">
              <a:solidFill>
                <a:srgbClr val="020457"/>
              </a:solidFill>
              <a:latin typeface="Times New Roman" panose="02020603050405020304" charset="0"/>
              <a:cs typeface="Times New Roman" panose="02020603050405020304" charset="0"/>
            </a:endParaRPr>
          </a:p>
        </p:txBody>
      </p:sp>
      <p:grpSp>
        <p:nvGrpSpPr>
          <p:cNvPr id="38" name="组合 37"/>
          <p:cNvGrpSpPr/>
          <p:nvPr/>
        </p:nvGrpSpPr>
        <p:grpSpPr>
          <a:xfrm>
            <a:off x="4418465" y="2971018"/>
            <a:ext cx="749300" cy="749300"/>
            <a:chOff x="731838" y="3101617"/>
            <a:chExt cx="748799" cy="748799"/>
          </a:xfrm>
        </p:grpSpPr>
        <p:sp>
          <p:nvSpPr>
            <p:cNvPr id="39" name="椭圆 38"/>
            <p:cNvSpPr/>
            <p:nvPr/>
          </p:nvSpPr>
          <p:spPr>
            <a:xfrm>
              <a:off x="731838" y="3101617"/>
              <a:ext cx="748799" cy="748799"/>
            </a:xfrm>
            <a:prstGeom prst="ellipse">
              <a:avLst/>
            </a:prstGeom>
            <a:solidFill>
              <a:srgbClr val="1B5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731838" y="3214581"/>
              <a:ext cx="659839" cy="521621"/>
            </a:xfrm>
            <a:prstGeom prst="rect">
              <a:avLst/>
            </a:prstGeom>
            <a:noFill/>
          </p:spPr>
          <p:txBody>
            <a:bodyPr wrap="square">
              <a:spAutoFit/>
            </a:bodyPr>
            <a:lstStyle>
              <a:defPPr>
                <a:defRPr lang="zh-CN"/>
              </a:defPPr>
              <a:lvl1pPr fontAlgn="ctr">
                <a:defRPr sz="4800" b="0" i="0" u="none" strike="noStrike">
                  <a:solidFill>
                    <a:schemeClr val="bg1"/>
                  </a:solidFill>
                  <a:effectLst/>
                  <a:latin typeface="+mj-lt"/>
                  <a:ea typeface="Microsoft YaHei" panose="020B0503020204020204" pitchFamily="34" charset="-122"/>
                </a:defRPr>
              </a:lvl1pPr>
            </a:lstStyle>
            <a:p>
              <a:pPr algn="ctr"/>
              <a:r>
                <a:rPr lang="en-US" altLang="zh-CN" sz="2800" dirty="0">
                  <a:ea typeface="Arial" panose="020B0604020202020204" pitchFamily="34" charset="0"/>
                </a:rPr>
                <a:t>0</a:t>
              </a:r>
              <a:r>
                <a:rPr lang="en-GB" altLang="en-US" sz="2800" dirty="0">
                  <a:ea typeface="Arial" panose="020B0604020202020204" pitchFamily="34" charset="0"/>
                </a:rPr>
                <a:t>2</a:t>
              </a:r>
              <a:endParaRPr lang="en-GB" altLang="en-US" sz="2800" dirty="0">
                <a:ea typeface="Arial" panose="020B0604020202020204" pitchFamily="34" charset="0"/>
              </a:endParaRPr>
            </a:p>
          </p:txBody>
        </p:sp>
      </p:grpSp>
      <p:sp>
        <p:nvSpPr>
          <p:cNvPr id="41" name="矩形: 圆角 40"/>
          <p:cNvSpPr/>
          <p:nvPr/>
        </p:nvSpPr>
        <p:spPr>
          <a:xfrm>
            <a:off x="8516982" y="3212676"/>
            <a:ext cx="2943180" cy="1250494"/>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b="1" dirty="0">
                <a:solidFill>
                  <a:srgbClr val="020457"/>
                </a:solidFill>
                <a:latin typeface="Times New Roman" panose="02020603050405020304" charset="0"/>
                <a:cs typeface="Times New Roman" panose="02020603050405020304" charset="0"/>
              </a:rPr>
              <a:t>Instant selling price prediction</a:t>
            </a:r>
            <a:endParaRPr lang="en-US" altLang="en-US" sz="2400" b="1" dirty="0">
              <a:solidFill>
                <a:srgbClr val="020457"/>
              </a:solidFill>
              <a:latin typeface="Times New Roman" panose="02020603050405020304" charset="0"/>
              <a:cs typeface="Times New Roman" panose="02020603050405020304" charset="0"/>
            </a:endParaRPr>
          </a:p>
        </p:txBody>
      </p:sp>
      <p:grpSp>
        <p:nvGrpSpPr>
          <p:cNvPr id="42" name="组合 41"/>
          <p:cNvGrpSpPr/>
          <p:nvPr/>
        </p:nvGrpSpPr>
        <p:grpSpPr>
          <a:xfrm>
            <a:off x="8098970" y="2971018"/>
            <a:ext cx="749300" cy="749300"/>
            <a:chOff x="731838" y="3101617"/>
            <a:chExt cx="748799" cy="748799"/>
          </a:xfrm>
        </p:grpSpPr>
        <p:sp>
          <p:nvSpPr>
            <p:cNvPr id="43" name="椭圆 42"/>
            <p:cNvSpPr/>
            <p:nvPr/>
          </p:nvSpPr>
          <p:spPr>
            <a:xfrm>
              <a:off x="731838" y="3101617"/>
              <a:ext cx="748799" cy="748799"/>
            </a:xfrm>
            <a:prstGeom prst="ellipse">
              <a:avLst/>
            </a:prstGeom>
            <a:solidFill>
              <a:srgbClr val="AF2E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731838" y="3214581"/>
              <a:ext cx="659839" cy="521621"/>
            </a:xfrm>
            <a:prstGeom prst="rect">
              <a:avLst/>
            </a:prstGeom>
            <a:noFill/>
          </p:spPr>
          <p:txBody>
            <a:bodyPr wrap="square">
              <a:spAutoFit/>
            </a:bodyPr>
            <a:lstStyle>
              <a:defPPr>
                <a:defRPr lang="zh-CN"/>
              </a:defPPr>
              <a:lvl1pPr fontAlgn="ctr">
                <a:defRPr sz="4800" b="0" i="0" u="none" strike="noStrike">
                  <a:solidFill>
                    <a:schemeClr val="bg1"/>
                  </a:solidFill>
                  <a:effectLst/>
                  <a:latin typeface="+mj-lt"/>
                  <a:ea typeface="Microsoft YaHei" panose="020B0503020204020204" pitchFamily="34" charset="-122"/>
                </a:defRPr>
              </a:lvl1pPr>
            </a:lstStyle>
            <a:p>
              <a:pPr algn="ctr"/>
              <a:r>
                <a:rPr lang="en-US" altLang="zh-CN" sz="2800" dirty="0">
                  <a:ea typeface="Arial" panose="020B0604020202020204" pitchFamily="34" charset="0"/>
                </a:rPr>
                <a:t>0</a:t>
              </a:r>
              <a:r>
                <a:rPr lang="en-GB" altLang="en-US" sz="2800" dirty="0">
                  <a:ea typeface="Arial" panose="020B0604020202020204" pitchFamily="34" charset="0"/>
                </a:rPr>
                <a:t>3</a:t>
              </a:r>
              <a:endParaRPr lang="en-GB" altLang="en-US" sz="2800" dirty="0">
                <a:ea typeface="Arial" panose="020B0604020202020204" pitchFamily="34" charset="0"/>
              </a:endParaRPr>
            </a:p>
          </p:txBody>
        </p:sp>
      </p:grpSp>
      <p:sp>
        <p:nvSpPr>
          <p:cNvPr id="45" name="矩形: 圆角 44"/>
          <p:cNvSpPr/>
          <p:nvPr/>
        </p:nvSpPr>
        <p:spPr>
          <a:xfrm>
            <a:off x="2499679" y="4986794"/>
            <a:ext cx="2943180" cy="1250494"/>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2400" b="1" dirty="0">
                <a:solidFill>
                  <a:srgbClr val="020457"/>
                </a:solidFill>
                <a:latin typeface="Times New Roman" panose="02020603050405020304" charset="0"/>
                <a:cs typeface="Times New Roman" panose="02020603050405020304" charset="0"/>
              </a:rPr>
              <a:t>Enough Information/</a:t>
            </a:r>
            <a:endParaRPr lang="en-GB" altLang="en-US" sz="2400" b="1" dirty="0">
              <a:solidFill>
                <a:srgbClr val="020457"/>
              </a:solidFill>
              <a:latin typeface="Times New Roman" panose="02020603050405020304" charset="0"/>
              <a:cs typeface="Times New Roman" panose="02020603050405020304" charset="0"/>
            </a:endParaRPr>
          </a:p>
        </p:txBody>
      </p:sp>
      <p:grpSp>
        <p:nvGrpSpPr>
          <p:cNvPr id="46" name="组合 45"/>
          <p:cNvGrpSpPr/>
          <p:nvPr/>
        </p:nvGrpSpPr>
        <p:grpSpPr>
          <a:xfrm>
            <a:off x="2081667" y="4745136"/>
            <a:ext cx="749300" cy="749300"/>
            <a:chOff x="731838" y="3101617"/>
            <a:chExt cx="748799" cy="748799"/>
          </a:xfrm>
        </p:grpSpPr>
        <p:sp>
          <p:nvSpPr>
            <p:cNvPr id="47" name="椭圆 46"/>
            <p:cNvSpPr/>
            <p:nvPr/>
          </p:nvSpPr>
          <p:spPr>
            <a:xfrm>
              <a:off x="731838" y="3101617"/>
              <a:ext cx="748799" cy="748799"/>
            </a:xfrm>
            <a:prstGeom prst="ellipse">
              <a:avLst/>
            </a:prstGeom>
            <a:solidFill>
              <a:srgbClr val="1B56A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731838" y="3214581"/>
              <a:ext cx="659839" cy="521621"/>
            </a:xfrm>
            <a:prstGeom prst="rect">
              <a:avLst/>
            </a:prstGeom>
            <a:noFill/>
          </p:spPr>
          <p:txBody>
            <a:bodyPr wrap="square">
              <a:spAutoFit/>
            </a:bodyPr>
            <a:lstStyle>
              <a:defPPr>
                <a:defRPr lang="zh-CN"/>
              </a:defPPr>
              <a:lvl1pPr fontAlgn="ctr">
                <a:defRPr sz="4800" b="0" i="0" u="none" strike="noStrike">
                  <a:solidFill>
                    <a:schemeClr val="bg1"/>
                  </a:solidFill>
                  <a:effectLst/>
                  <a:latin typeface="+mj-lt"/>
                  <a:ea typeface="Microsoft YaHei" panose="020B0503020204020204" pitchFamily="34" charset="-122"/>
                </a:defRPr>
              </a:lvl1pPr>
            </a:lstStyle>
            <a:p>
              <a:pPr algn="ctr"/>
              <a:r>
                <a:rPr lang="en-US" altLang="zh-CN" sz="2800" dirty="0">
                  <a:ea typeface="Arial" panose="020B0604020202020204" pitchFamily="34" charset="0"/>
                </a:rPr>
                <a:t>0</a:t>
              </a:r>
              <a:r>
                <a:rPr lang="en-GB" altLang="en-US" sz="2800" dirty="0">
                  <a:ea typeface="Arial" panose="020B0604020202020204" pitchFamily="34" charset="0"/>
                </a:rPr>
                <a:t>4</a:t>
              </a:r>
              <a:endParaRPr lang="en-GB" altLang="en-US" sz="2800" dirty="0">
                <a:ea typeface="Arial" panose="020B0604020202020204" pitchFamily="34" charset="0"/>
              </a:endParaRPr>
            </a:p>
          </p:txBody>
        </p:sp>
      </p:grpSp>
      <p:sp>
        <p:nvSpPr>
          <p:cNvPr id="49" name="矩形: 圆角 48"/>
          <p:cNvSpPr/>
          <p:nvPr/>
        </p:nvSpPr>
        <p:spPr>
          <a:xfrm>
            <a:off x="6749141" y="4986794"/>
            <a:ext cx="2943180" cy="1250494"/>
          </a:xfrm>
          <a:prstGeom prst="roundRect">
            <a:avLst>
              <a:gd name="adj" fmla="val 5929"/>
            </a:avLst>
          </a:prstGeom>
          <a:solidFill>
            <a:schemeClr val="bg1"/>
          </a:solidFill>
          <a:ln w="15875">
            <a:noFill/>
            <a:prstDash val="solid"/>
          </a:ln>
          <a:effectLst>
            <a:outerShdw blurRad="482600" dist="101600" dir="4740000" algn="tr" rotWithShape="0">
              <a:srgbClr val="FD4C66">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rgbClr val="020457"/>
                </a:solidFill>
                <a:latin typeface="Times New Roman" panose="02020603050405020304" charset="0"/>
                <a:cs typeface="Times New Roman" panose="02020603050405020304" charset="0"/>
              </a:rPr>
              <a:t>Download prediction results</a:t>
            </a:r>
            <a:endParaRPr lang="en-US" altLang="en-US" sz="2400" dirty="0">
              <a:solidFill>
                <a:srgbClr val="020457"/>
              </a:solidFill>
              <a:latin typeface="Times New Roman" panose="02020603050405020304" charset="0"/>
              <a:cs typeface="Times New Roman" panose="02020603050405020304" charset="0"/>
            </a:endParaRPr>
          </a:p>
        </p:txBody>
      </p:sp>
      <p:grpSp>
        <p:nvGrpSpPr>
          <p:cNvPr id="50" name="组合 49"/>
          <p:cNvGrpSpPr/>
          <p:nvPr/>
        </p:nvGrpSpPr>
        <p:grpSpPr>
          <a:xfrm>
            <a:off x="6331129" y="4745136"/>
            <a:ext cx="749300" cy="749300"/>
            <a:chOff x="731838" y="3101617"/>
            <a:chExt cx="748799" cy="748799"/>
          </a:xfrm>
        </p:grpSpPr>
        <p:sp>
          <p:nvSpPr>
            <p:cNvPr id="51" name="椭圆 50"/>
            <p:cNvSpPr/>
            <p:nvPr/>
          </p:nvSpPr>
          <p:spPr>
            <a:xfrm>
              <a:off x="731838" y="3101617"/>
              <a:ext cx="748799" cy="748799"/>
            </a:xfrm>
            <a:prstGeom prst="ellipse">
              <a:avLst/>
            </a:prstGeom>
            <a:solidFill>
              <a:srgbClr val="AF2E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731838" y="3214581"/>
              <a:ext cx="659839" cy="521621"/>
            </a:xfrm>
            <a:prstGeom prst="rect">
              <a:avLst/>
            </a:prstGeom>
            <a:noFill/>
          </p:spPr>
          <p:txBody>
            <a:bodyPr wrap="square">
              <a:spAutoFit/>
            </a:bodyPr>
            <a:lstStyle>
              <a:defPPr>
                <a:defRPr lang="zh-CN"/>
              </a:defPPr>
              <a:lvl1pPr fontAlgn="ctr">
                <a:defRPr sz="4800" b="0" i="0" u="none" strike="noStrike">
                  <a:solidFill>
                    <a:schemeClr val="bg1"/>
                  </a:solidFill>
                  <a:effectLst/>
                  <a:latin typeface="+mj-lt"/>
                  <a:ea typeface="Microsoft YaHei" panose="020B0503020204020204" pitchFamily="34" charset="-122"/>
                </a:defRPr>
              </a:lvl1pPr>
            </a:lstStyle>
            <a:p>
              <a:pPr algn="ctr"/>
              <a:r>
                <a:rPr lang="en-US" altLang="zh-CN" sz="2800" dirty="0">
                  <a:ea typeface="Arial" panose="020B0604020202020204" pitchFamily="34" charset="0"/>
                </a:rPr>
                <a:t>0</a:t>
              </a:r>
              <a:r>
                <a:rPr lang="en-GB" altLang="en-US" sz="2800" dirty="0">
                  <a:ea typeface="Arial" panose="020B0604020202020204" pitchFamily="34" charset="0"/>
                </a:rPr>
                <a:t>5</a:t>
              </a:r>
              <a:endParaRPr lang="en-GB" altLang="en-US" sz="2800" dirty="0">
                <a:ea typeface="Arial" panose="020B0604020202020204" pitchFamily="34" charset="0"/>
              </a:endParaRPr>
            </a:p>
          </p:txBody>
        </p:sp>
      </p:grpSp>
      <p:sp>
        <p:nvSpPr>
          <p:cNvPr id="54" name="文本框 53"/>
          <p:cNvSpPr txBox="1"/>
          <p:nvPr/>
        </p:nvSpPr>
        <p:spPr>
          <a:xfrm>
            <a:off x="3763777" y="1056291"/>
            <a:ext cx="11216844" cy="706755"/>
          </a:xfrm>
          <a:prstGeom prst="rect">
            <a:avLst/>
          </a:prstGeom>
          <a:noFill/>
        </p:spPr>
        <p:txBody>
          <a:bodyPr wrap="square">
            <a:spAutoFit/>
          </a:bodyPr>
          <a:lstStyle/>
          <a:p>
            <a:r>
              <a:rPr lang="en-US" altLang="en-US" sz="4000" dirty="0">
                <a:solidFill>
                  <a:schemeClr val="bg1"/>
                </a:solidFill>
                <a:latin typeface="+mj-lt"/>
                <a:ea typeface="Gilroy" panose="00000400000000000000" charset="0"/>
              </a:rPr>
              <a:t>Web Application</a:t>
            </a:r>
            <a:endParaRPr lang="en-US" altLang="en-US" sz="4000" dirty="0">
              <a:solidFill>
                <a:schemeClr val="bg1"/>
              </a:solidFill>
              <a:latin typeface="+mj-lt"/>
              <a:ea typeface="Gilroy" panose="00000400000000000000" charset="0"/>
            </a:endParaRPr>
          </a:p>
        </p:txBody>
      </p:sp>
      <p:grpSp>
        <p:nvGrpSpPr>
          <p:cNvPr id="55" name="组合 54"/>
          <p:cNvGrpSpPr/>
          <p:nvPr/>
        </p:nvGrpSpPr>
        <p:grpSpPr>
          <a:xfrm>
            <a:off x="5782798" y="2077642"/>
            <a:ext cx="626404" cy="626404"/>
            <a:chOff x="1984442" y="5680952"/>
            <a:chExt cx="476655" cy="476655"/>
          </a:xfrm>
        </p:grpSpPr>
        <p:sp>
          <p:nvSpPr>
            <p:cNvPr id="56" name="椭圆 55"/>
            <p:cNvSpPr/>
            <p:nvPr/>
          </p:nvSpPr>
          <p:spPr>
            <a:xfrm>
              <a:off x="1984442" y="5680952"/>
              <a:ext cx="476655" cy="476655"/>
            </a:xfrm>
            <a:prstGeom prst="ellipse">
              <a:avLst/>
            </a:prstGeom>
            <a:solidFill>
              <a:srgbClr val="AF2E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半闭框 56"/>
            <p:cNvSpPr/>
            <p:nvPr/>
          </p:nvSpPr>
          <p:spPr>
            <a:xfrm rot="13500593">
              <a:off x="2150860" y="5797397"/>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16" name="图片 15"/>
          <p:cNvPicPr>
            <a:picLocks noChangeAspect="1"/>
          </p:cNvPicPr>
          <p:nvPr/>
        </p:nvPicPr>
        <p:blipFill rotWithShape="1">
          <a:blip r:embed="rId1"/>
          <a:srcRect l="1592" t="-2956" r="25077" b="47555"/>
          <a:stretch>
            <a:fillRect/>
          </a:stretch>
        </p:blipFill>
        <p:spPr>
          <a:xfrm flipH="1">
            <a:off x="0" y="4850130"/>
            <a:ext cx="2643505" cy="1997710"/>
          </a:xfrm>
          <a:custGeom>
            <a:avLst/>
            <a:gdLst>
              <a:gd name="connsiteX0" fmla="*/ 2721662 w 2721662"/>
              <a:gd name="connsiteY0" fmla="*/ 0 h 2056156"/>
              <a:gd name="connsiteX1" fmla="*/ 0 w 2721662"/>
              <a:gd name="connsiteY1" fmla="*/ 0 h 2056156"/>
              <a:gd name="connsiteX2" fmla="*/ 0 w 2721662"/>
              <a:gd name="connsiteY2" fmla="*/ 2056156 h 2056156"/>
              <a:gd name="connsiteX3" fmla="*/ 2721662 w 2721662"/>
              <a:gd name="connsiteY3" fmla="*/ 2056156 h 2056156"/>
            </a:gdLst>
            <a:ahLst/>
            <a:cxnLst>
              <a:cxn ang="0">
                <a:pos x="connsiteX0" y="connsiteY0"/>
              </a:cxn>
              <a:cxn ang="0">
                <a:pos x="connsiteX1" y="connsiteY1"/>
              </a:cxn>
              <a:cxn ang="0">
                <a:pos x="connsiteX2" y="connsiteY2"/>
              </a:cxn>
              <a:cxn ang="0">
                <a:pos x="connsiteX3" y="connsiteY3"/>
              </a:cxn>
            </a:cxnLst>
            <a:rect l="l" t="t" r="r" b="b"/>
            <a:pathLst>
              <a:path w="2721662" h="2056156">
                <a:moveTo>
                  <a:pt x="2721662" y="0"/>
                </a:moveTo>
                <a:lnTo>
                  <a:pt x="0" y="0"/>
                </a:lnTo>
                <a:lnTo>
                  <a:pt x="0" y="2056156"/>
                </a:lnTo>
                <a:lnTo>
                  <a:pt x="2721662" y="2056156"/>
                </a:lnTo>
                <a:close/>
              </a:path>
            </a:pathLst>
          </a:custGeom>
        </p:spPr>
      </p:pic>
      <p:pic>
        <p:nvPicPr>
          <p:cNvPr id="20" name="图片 19"/>
          <p:cNvPicPr>
            <a:picLocks noChangeAspect="1"/>
          </p:cNvPicPr>
          <p:nvPr/>
        </p:nvPicPr>
        <p:blipFill rotWithShape="1">
          <a:blip r:embed="rId2"/>
          <a:srcRect l="17876" t="47807" b="12967"/>
          <a:stretch>
            <a:fillRect/>
          </a:stretch>
        </p:blipFill>
        <p:spPr>
          <a:xfrm flipH="1" flipV="1">
            <a:off x="9372199" y="5422810"/>
            <a:ext cx="3022570" cy="1443124"/>
          </a:xfrm>
          <a:custGeom>
            <a:avLst/>
            <a:gdLst>
              <a:gd name="connsiteX0" fmla="*/ 3483068 w 3483068"/>
              <a:gd name="connsiteY0" fmla="*/ 0 h 2547458"/>
              <a:gd name="connsiteX1" fmla="*/ 0 w 3483068"/>
              <a:gd name="connsiteY1" fmla="*/ 0 h 2547458"/>
              <a:gd name="connsiteX2" fmla="*/ 0 w 3483068"/>
              <a:gd name="connsiteY2" fmla="*/ 2547458 h 2547458"/>
              <a:gd name="connsiteX3" fmla="*/ 3483068 w 3483068"/>
              <a:gd name="connsiteY3" fmla="*/ 2547458 h 2547458"/>
            </a:gdLst>
            <a:ahLst/>
            <a:cxnLst>
              <a:cxn ang="0">
                <a:pos x="connsiteX0" y="connsiteY0"/>
              </a:cxn>
              <a:cxn ang="0">
                <a:pos x="connsiteX1" y="connsiteY1"/>
              </a:cxn>
              <a:cxn ang="0">
                <a:pos x="connsiteX2" y="connsiteY2"/>
              </a:cxn>
              <a:cxn ang="0">
                <a:pos x="connsiteX3" y="connsiteY3"/>
              </a:cxn>
            </a:cxnLst>
            <a:rect l="l" t="t" r="r" b="b"/>
            <a:pathLst>
              <a:path w="3483068" h="2547458">
                <a:moveTo>
                  <a:pt x="3483068" y="0"/>
                </a:moveTo>
                <a:lnTo>
                  <a:pt x="0" y="0"/>
                </a:lnTo>
                <a:lnTo>
                  <a:pt x="0" y="2547458"/>
                </a:lnTo>
                <a:lnTo>
                  <a:pt x="3483068" y="2547458"/>
                </a:lnTo>
                <a:close/>
              </a:path>
            </a:pathLst>
          </a:cu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algn="ctr"/>
            <a:r>
              <a:rPr lang="en-US" altLang="en-US" sz="4800" dirty="0">
                <a:solidFill>
                  <a:schemeClr val="bg1"/>
                </a:solidFill>
                <a:latin typeface="+mj-lt"/>
                <a:ea typeface="Gilroy" panose="00000400000000000000" charset="0"/>
                <a:sym typeface="+mn-ea"/>
              </a:rPr>
              <a:t>Results and Discussion</a:t>
            </a:r>
            <a:endParaRPr lang="en-US" altLang="en-US" sz="4800" dirty="0">
              <a:solidFill>
                <a:schemeClr val="bg1"/>
              </a:solidFill>
              <a:latin typeface="+mj-lt"/>
              <a:ea typeface="Gilroy" panose="00000400000000000000" charset="0"/>
            </a:endParaRPr>
          </a:p>
        </p:txBody>
      </p:sp>
      <p:sp>
        <p:nvSpPr>
          <p:cNvPr id="22" name="Text Box 21"/>
          <p:cNvSpPr txBox="1"/>
          <p:nvPr/>
        </p:nvSpPr>
        <p:spPr>
          <a:xfrm>
            <a:off x="167640" y="1485900"/>
            <a:ext cx="11772900" cy="5182235"/>
          </a:xfrm>
          <a:prstGeom prst="rect">
            <a:avLst/>
          </a:prstGeom>
          <a:noFill/>
        </p:spPr>
        <p:txBody>
          <a:bodyPr wrap="square" rtlCol="0">
            <a:noAutofit/>
          </a:bodyPr>
          <a:p>
            <a:pPr lvl="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developed Machine Learning system successfully predicts used car</a:t>
            </a:r>
            <a:endParaRPr lang="en-US" altLang="en-US" sz="2800">
              <a:solidFill>
                <a:schemeClr val="bg1"/>
              </a:solidFill>
              <a:latin typeface="Times New Roman" panose="02020603050405020304" charset="0"/>
              <a:cs typeface="Times New Roman" panose="02020603050405020304" charset="0"/>
            </a:endParaRPr>
          </a:p>
          <a:p>
            <a:pPr lvl="0" indent="0">
              <a:buFont typeface="Wingdings" panose="05000000000000000000" charset="0"/>
              <a:buNone/>
            </a:pPr>
            <a:r>
              <a:rPr lang="en-GB" altLang="en-US" sz="2800">
                <a:solidFill>
                  <a:schemeClr val="bg1"/>
                </a:solidFill>
                <a:latin typeface="Times New Roman" panose="02020603050405020304" charset="0"/>
                <a:cs typeface="Times New Roman" panose="02020603050405020304" charset="0"/>
              </a:rPr>
              <a:t>           </a:t>
            </a:r>
            <a:r>
              <a:rPr lang="en-US" altLang="en-US" sz="2800">
                <a:solidFill>
                  <a:schemeClr val="bg1"/>
                </a:solidFill>
                <a:latin typeface="Times New Roman" panose="02020603050405020304" charset="0"/>
                <a:cs typeface="Times New Roman" panose="02020603050405020304" charset="0"/>
              </a:rPr>
              <a:t>prices with high accuracy.</a:t>
            </a:r>
            <a:endParaRPr lang="en-US" altLang="en-US" sz="2800">
              <a:solidFill>
                <a:schemeClr val="bg1"/>
              </a:solidFill>
              <a:latin typeface="Times New Roman" panose="02020603050405020304" charset="0"/>
              <a:cs typeface="Times New Roman" panose="02020603050405020304" charset="0"/>
            </a:endParaRPr>
          </a:p>
          <a:p>
            <a:pPr marL="914400" lvl="1"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Major achievements include:</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Successful data preprocessing</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 Effective feature engineering.</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Comparison of multiple regression models</a:t>
            </a:r>
            <a:endParaRPr lang="en-US"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Selection of Random Forest as the best-performing model</a:t>
            </a:r>
            <a:r>
              <a:rPr lang="en-GB" altLang="en-US" sz="2800">
                <a:solidFill>
                  <a:schemeClr val="bg1"/>
                </a:solidFill>
                <a:latin typeface="Times New Roman" panose="02020603050405020304" charset="0"/>
                <a:cs typeface="Times New Roman" panose="02020603050405020304" charset="0"/>
              </a:rPr>
              <a:t>.</a:t>
            </a:r>
            <a:endParaRPr lang="en-GB" altLang="en-US" sz="2800">
              <a:solidFill>
                <a:schemeClr val="bg1"/>
              </a:solidFill>
              <a:latin typeface="Times New Roman" panose="02020603050405020304" charset="0"/>
              <a:cs typeface="Times New Roman" panose="02020603050405020304" charset="0"/>
            </a:endParaRPr>
          </a:p>
          <a:p>
            <a:pPr marL="1257300" lvl="2" indent="-3429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Development of a fully functional Streamlit prediction application</a:t>
            </a:r>
            <a:endParaRPr lang="en-US" altLang="en-US" sz="2800">
              <a:solidFill>
                <a:schemeClr val="bg1"/>
              </a:solidFill>
              <a:latin typeface="Times New Roman" panose="02020603050405020304" charset="0"/>
              <a:cs typeface="Times New Roman" panose="02020603050405020304" charset="0"/>
            </a:endParaRPr>
          </a:p>
          <a:p>
            <a:pPr marL="342900" indent="-3429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project demonstrates the practical application of Machine Learning in solving real-world business problems.</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algn="ctr"/>
            <a:r>
              <a:rPr lang="en-GB" altLang="en-US" sz="4800" dirty="0">
                <a:solidFill>
                  <a:schemeClr val="bg1"/>
                </a:solidFill>
                <a:latin typeface="+mj-lt"/>
                <a:ea typeface="Gilroy" panose="00000400000000000000" charset="0"/>
                <a:sym typeface="+mn-ea"/>
              </a:rPr>
              <a:t>Conclusion</a:t>
            </a:r>
            <a:endParaRPr lang="en-GB" altLang="en-US" sz="4800" dirty="0">
              <a:solidFill>
                <a:schemeClr val="bg1"/>
              </a:solidFill>
              <a:latin typeface="+mj-lt"/>
              <a:ea typeface="Gilroy" panose="00000400000000000000" charset="0"/>
              <a:sym typeface="+mn-ea"/>
            </a:endParaRPr>
          </a:p>
        </p:txBody>
      </p:sp>
      <p:sp>
        <p:nvSpPr>
          <p:cNvPr id="22" name="Text Box 21"/>
          <p:cNvSpPr txBox="1"/>
          <p:nvPr/>
        </p:nvSpPr>
        <p:spPr>
          <a:xfrm>
            <a:off x="167640" y="1485900"/>
            <a:ext cx="11772900" cy="5182235"/>
          </a:xfrm>
          <a:prstGeom prst="rect">
            <a:avLst/>
          </a:prstGeom>
          <a:noFill/>
        </p:spPr>
        <p:txBody>
          <a:bodyPr wrap="square" rtlCol="0">
            <a:noAutofit/>
          </a:bodyPr>
          <a:p>
            <a:pPr marL="457200" lvl="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This project successfully developed an intelligent Machine Learning system</a:t>
            </a:r>
            <a:r>
              <a:rPr lang="en-GB" altLang="en-US" sz="2800">
                <a:solidFill>
                  <a:schemeClr val="bg1"/>
                </a:solidFill>
                <a:latin typeface="Times New Roman" panose="02020603050405020304" charset="0"/>
                <a:cs typeface="Times New Roman" panose="02020603050405020304" charset="0"/>
              </a:rPr>
              <a:t>   </a:t>
            </a:r>
            <a:r>
              <a:rPr lang="en-US" altLang="en-US" sz="2800">
                <a:solidFill>
                  <a:schemeClr val="bg1"/>
                </a:solidFill>
                <a:latin typeface="Times New Roman" panose="02020603050405020304" charset="0"/>
                <a:cs typeface="Times New Roman" panose="02020603050405020304" charset="0"/>
              </a:rPr>
              <a:t>capable of predicting used car prices using historical vehicle data.</a:t>
            </a:r>
            <a:endParaRPr lang="en-US" altLang="en-US" sz="2800">
              <a:solidFill>
                <a:schemeClr val="bg1"/>
              </a:solidFill>
              <a:latin typeface="Times New Roman" panose="02020603050405020304" charset="0"/>
              <a:cs typeface="Times New Roman" panose="02020603050405020304" charset="0"/>
            </a:endParaRPr>
          </a:p>
          <a:p>
            <a:pPr marL="457200" lvl="0" indent="-457200">
              <a:buFont typeface="Wingdings" panose="05000000000000000000" charset="0"/>
              <a:buChar char="v"/>
            </a:pPr>
            <a:endParaRPr lang="en-US" altLang="en-US" sz="2800">
              <a:solidFill>
                <a:schemeClr val="bg1"/>
              </a:solidFill>
              <a:latin typeface="Times New Roman" panose="02020603050405020304" charset="0"/>
              <a:cs typeface="Times New Roman" panose="02020603050405020304" charset="0"/>
            </a:endParaRPr>
          </a:p>
          <a:p>
            <a:pPr marL="457200" lvl="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R</a:t>
            </a:r>
            <a:r>
              <a:rPr lang="en-GB" altLang="en-US" sz="2800">
                <a:solidFill>
                  <a:schemeClr val="bg1"/>
                </a:solidFill>
                <a:latin typeface="Times New Roman" panose="02020603050405020304" charset="0"/>
                <a:cs typeface="Times New Roman" panose="02020603050405020304" charset="0"/>
              </a:rPr>
              <a:t>idge Regression</a:t>
            </a:r>
            <a:r>
              <a:rPr lang="en-US" altLang="en-US" sz="2800">
                <a:solidFill>
                  <a:schemeClr val="bg1"/>
                </a:solidFill>
                <a:latin typeface="Times New Roman" panose="02020603050405020304" charset="0"/>
                <a:cs typeface="Times New Roman" panose="02020603050405020304" charset="0"/>
              </a:rPr>
              <a:t> model produced the best overall performance and was integrated into an interactive Streamlit application, enabling users to obtain accurate price predictions quickly and efficiently.</a:t>
            </a:r>
            <a:endParaRPr lang="en-US" altLang="en-US" sz="2800">
              <a:solidFill>
                <a:schemeClr val="bg1"/>
              </a:solidFill>
              <a:latin typeface="Times New Roman" panose="02020603050405020304" charset="0"/>
              <a:cs typeface="Times New Roman" panose="02020603050405020304" charset="0"/>
            </a:endParaRPr>
          </a:p>
          <a:p>
            <a:pPr lvl="0" indent="0">
              <a:buFont typeface="Wingdings" panose="05000000000000000000" charset="0"/>
              <a:buNone/>
            </a:pPr>
            <a:endParaRPr lang="en-US" altLang="en-US" sz="2800">
              <a:solidFill>
                <a:schemeClr val="bg1"/>
              </a:solidFill>
              <a:latin typeface="Times New Roman" panose="02020603050405020304" charset="0"/>
              <a:cs typeface="Times New Roman" panose="02020603050405020304" charset="0"/>
            </a:endParaRPr>
          </a:p>
          <a:p>
            <a:pPr marL="457200" lvl="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The project highlights how data-driven techniques can support better decision-making in the used vehicle market.</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1B56A6"/>
            </a:gs>
            <a:gs pos="76000">
              <a:srgbClr val="221195"/>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584200" y="410210"/>
            <a:ext cx="11023600" cy="829945"/>
          </a:xfrm>
          <a:prstGeom prst="rect">
            <a:avLst/>
          </a:prstGeom>
          <a:noFill/>
        </p:spPr>
        <p:txBody>
          <a:bodyPr wrap="square">
            <a:spAutoFit/>
          </a:bodyPr>
          <a:lstStyle/>
          <a:p>
            <a:pPr algn="ctr"/>
            <a:r>
              <a:rPr lang="en-US" altLang="en-US" sz="4800" dirty="0">
                <a:solidFill>
                  <a:schemeClr val="bg1"/>
                </a:solidFill>
                <a:latin typeface="+mj-lt"/>
                <a:ea typeface="Gilroy" panose="00000400000000000000" charset="0"/>
                <a:sym typeface="+mn-ea"/>
              </a:rPr>
              <a:t>Future Work</a:t>
            </a:r>
            <a:endParaRPr lang="en-US" altLang="en-US" sz="4800" dirty="0">
              <a:solidFill>
                <a:schemeClr val="bg1"/>
              </a:solidFill>
              <a:latin typeface="+mj-lt"/>
              <a:ea typeface="Gilroy" panose="00000400000000000000" charset="0"/>
              <a:sym typeface="+mn-ea"/>
            </a:endParaRPr>
          </a:p>
        </p:txBody>
      </p:sp>
      <p:sp>
        <p:nvSpPr>
          <p:cNvPr id="22" name="Text Box 21"/>
          <p:cNvSpPr txBox="1"/>
          <p:nvPr/>
        </p:nvSpPr>
        <p:spPr>
          <a:xfrm>
            <a:off x="1132205" y="1572260"/>
            <a:ext cx="10662285" cy="5182235"/>
          </a:xfrm>
          <a:prstGeom prst="rect">
            <a:avLst/>
          </a:prstGeom>
          <a:noFill/>
        </p:spPr>
        <p:txBody>
          <a:bodyPr wrap="square" rtlCol="0">
            <a:noAutofit/>
          </a:bodyPr>
          <a:p>
            <a:pPr marL="457200" lvl="0" indent="-457200">
              <a:buFont typeface="Wingdings" panose="05000000000000000000" charset="0"/>
              <a:buChar char="v"/>
            </a:pPr>
            <a:r>
              <a:rPr lang="en-US" altLang="en-US" sz="2800">
                <a:solidFill>
                  <a:schemeClr val="bg1"/>
                </a:solidFill>
                <a:latin typeface="Times New Roman" panose="02020603050405020304" charset="0"/>
                <a:cs typeface="Times New Roman" panose="02020603050405020304" charset="0"/>
              </a:rPr>
              <a:t>Future improvements may include:</a:t>
            </a:r>
            <a:endParaRPr lang="en-US" altLang="en-US" sz="2800">
              <a:solidFill>
                <a:schemeClr val="bg1"/>
              </a:solidFill>
              <a:latin typeface="Times New Roman" panose="02020603050405020304" charset="0"/>
              <a:cs typeface="Times New Roman" panose="02020603050405020304" charset="0"/>
            </a:endParaRPr>
          </a:p>
          <a:p>
            <a:pPr marL="1371600" lvl="2" indent="-4572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Collecting a larger and more diverse dataset</a:t>
            </a:r>
            <a:endParaRPr lang="en-US" altLang="en-US" sz="2800">
              <a:solidFill>
                <a:schemeClr val="bg1"/>
              </a:solidFill>
              <a:latin typeface="Times New Roman" panose="02020603050405020304" charset="0"/>
              <a:cs typeface="Times New Roman" panose="02020603050405020304" charset="0"/>
            </a:endParaRPr>
          </a:p>
          <a:p>
            <a:pPr marL="1371600" lvl="2" indent="-4572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Incorporating real-time market information</a:t>
            </a:r>
            <a:endParaRPr lang="en-US" altLang="en-US" sz="2800">
              <a:solidFill>
                <a:schemeClr val="bg1"/>
              </a:solidFill>
              <a:latin typeface="Times New Roman" panose="02020603050405020304" charset="0"/>
              <a:cs typeface="Times New Roman" panose="02020603050405020304" charset="0"/>
            </a:endParaRPr>
          </a:p>
          <a:p>
            <a:pPr marL="1371600" lvl="2" indent="-4572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Using advanced ensemble and deep learning models</a:t>
            </a:r>
            <a:endParaRPr lang="en-US" altLang="en-US" sz="2800">
              <a:solidFill>
                <a:schemeClr val="bg1"/>
              </a:solidFill>
              <a:latin typeface="Times New Roman" panose="02020603050405020304" charset="0"/>
              <a:cs typeface="Times New Roman" panose="02020603050405020304" charset="0"/>
            </a:endParaRPr>
          </a:p>
          <a:p>
            <a:pPr marL="1371600" lvl="2" indent="-4572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Deploying the application on cloud platforms</a:t>
            </a:r>
            <a:endParaRPr lang="en-US" altLang="en-US" sz="2800">
              <a:solidFill>
                <a:schemeClr val="bg1"/>
              </a:solidFill>
              <a:latin typeface="Times New Roman" panose="02020603050405020304" charset="0"/>
              <a:cs typeface="Times New Roman" panose="02020603050405020304" charset="0"/>
            </a:endParaRPr>
          </a:p>
          <a:p>
            <a:pPr marL="1371600" lvl="2" indent="-4572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Developing a mobile version of the prediction system</a:t>
            </a:r>
            <a:endParaRPr lang="en-US" altLang="en-US" sz="2800">
              <a:solidFill>
                <a:schemeClr val="bg1"/>
              </a:solidFill>
              <a:latin typeface="Times New Roman" panose="02020603050405020304" charset="0"/>
              <a:cs typeface="Times New Roman" panose="02020603050405020304" charset="0"/>
            </a:endParaRPr>
          </a:p>
          <a:p>
            <a:pPr marL="1371600" lvl="2" indent="-457200">
              <a:buFont typeface="Wingdings" panose="05000000000000000000" charset="0"/>
              <a:buChar char="Ø"/>
            </a:pPr>
            <a:r>
              <a:rPr lang="en-US" altLang="en-US" sz="2800">
                <a:solidFill>
                  <a:schemeClr val="bg1"/>
                </a:solidFill>
                <a:latin typeface="Times New Roman" panose="02020603050405020304" charset="0"/>
                <a:cs typeface="Times New Roman" panose="02020603050405020304" charset="0"/>
              </a:rPr>
              <a:t>Integrating image-based vehicle condition analysis</a:t>
            </a:r>
            <a:endParaRPr lang="en-US" altLang="en-US" sz="28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38000">
              <a:srgbClr val="190985"/>
            </a:gs>
            <a:gs pos="100000">
              <a:srgbClr val="1B59A7"/>
            </a:gs>
          </a:gsLst>
          <a:lin ang="16200000" scaled="1"/>
          <a:tileRect/>
        </a:gradFill>
        <a:effectLst/>
      </p:bgPr>
    </p:bg>
    <p:spTree>
      <p:nvGrpSpPr>
        <p:cNvPr id="1" name=""/>
        <p:cNvGrpSpPr/>
        <p:nvPr/>
      </p:nvGrpSpPr>
      <p:grpSpPr>
        <a:xfrm>
          <a:off x="0" y="0"/>
          <a:ext cx="0" cy="0"/>
          <a:chOff x="0" y="0"/>
          <a:chExt cx="0" cy="0"/>
        </a:xfrm>
      </p:grpSpPr>
      <p:pic>
        <p:nvPicPr>
          <p:cNvPr id="90" name="图片 89"/>
          <p:cNvPicPr>
            <a:picLocks noChangeAspect="1"/>
          </p:cNvPicPr>
          <p:nvPr/>
        </p:nvPicPr>
        <p:blipFill>
          <a:blip r:embed="rId1"/>
          <a:srcRect r="24556" b="42640"/>
          <a:stretch>
            <a:fillRect/>
          </a:stretch>
        </p:blipFill>
        <p:spPr>
          <a:xfrm>
            <a:off x="3595572" y="322166"/>
            <a:ext cx="8596428" cy="6535834"/>
          </a:xfrm>
          <a:custGeom>
            <a:avLst/>
            <a:gdLst>
              <a:gd name="connsiteX0" fmla="*/ 0 w 8596428"/>
              <a:gd name="connsiteY0" fmla="*/ 0 h 6535834"/>
              <a:gd name="connsiteX1" fmla="*/ 8596428 w 8596428"/>
              <a:gd name="connsiteY1" fmla="*/ 0 h 6535834"/>
              <a:gd name="connsiteX2" fmla="*/ 8596428 w 8596428"/>
              <a:gd name="connsiteY2" fmla="*/ 6535834 h 6535834"/>
              <a:gd name="connsiteX3" fmla="*/ 0 w 8596428"/>
              <a:gd name="connsiteY3" fmla="*/ 6535834 h 6535834"/>
            </a:gdLst>
            <a:ahLst/>
            <a:cxnLst>
              <a:cxn ang="0">
                <a:pos x="connsiteX0" y="connsiteY0"/>
              </a:cxn>
              <a:cxn ang="0">
                <a:pos x="connsiteX1" y="connsiteY1"/>
              </a:cxn>
              <a:cxn ang="0">
                <a:pos x="connsiteX2" y="connsiteY2"/>
              </a:cxn>
              <a:cxn ang="0">
                <a:pos x="connsiteX3" y="connsiteY3"/>
              </a:cxn>
            </a:cxnLst>
            <a:rect l="l" t="t" r="r" b="b"/>
            <a:pathLst>
              <a:path w="8596428" h="6535834">
                <a:moveTo>
                  <a:pt x="0" y="0"/>
                </a:moveTo>
                <a:lnTo>
                  <a:pt x="8596428" y="0"/>
                </a:lnTo>
                <a:lnTo>
                  <a:pt x="8596428" y="6535834"/>
                </a:lnTo>
                <a:lnTo>
                  <a:pt x="0" y="6535834"/>
                </a:lnTo>
                <a:close/>
              </a:path>
            </a:pathLst>
          </a:custGeom>
        </p:spPr>
      </p:pic>
      <p:pic>
        <p:nvPicPr>
          <p:cNvPr id="97" name="图片 96"/>
          <p:cNvPicPr>
            <a:picLocks noChangeAspect="1"/>
          </p:cNvPicPr>
          <p:nvPr/>
        </p:nvPicPr>
        <p:blipFill rotWithShape="1">
          <a:blip r:embed="rId2"/>
          <a:srcRect l="30135" t="41982" b="12967"/>
          <a:stretch>
            <a:fillRect/>
          </a:stretch>
        </p:blipFill>
        <p:spPr>
          <a:xfrm>
            <a:off x="0" y="0"/>
            <a:ext cx="10639842" cy="6858000"/>
          </a:xfrm>
          <a:custGeom>
            <a:avLst/>
            <a:gdLst>
              <a:gd name="connsiteX0" fmla="*/ 0 w 10639842"/>
              <a:gd name="connsiteY0" fmla="*/ 0 h 6858000"/>
              <a:gd name="connsiteX1" fmla="*/ 10639842 w 10639842"/>
              <a:gd name="connsiteY1" fmla="*/ 0 h 6858000"/>
              <a:gd name="connsiteX2" fmla="*/ 10639842 w 10639842"/>
              <a:gd name="connsiteY2" fmla="*/ 6858000 h 6858000"/>
              <a:gd name="connsiteX3" fmla="*/ 0 w 106398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639842" h="6858000">
                <a:moveTo>
                  <a:pt x="0" y="0"/>
                </a:moveTo>
                <a:lnTo>
                  <a:pt x="10639842" y="0"/>
                </a:lnTo>
                <a:lnTo>
                  <a:pt x="10639842" y="6858000"/>
                </a:lnTo>
                <a:lnTo>
                  <a:pt x="0" y="6858000"/>
                </a:lnTo>
                <a:close/>
              </a:path>
            </a:pathLst>
          </a:custGeom>
        </p:spPr>
      </p:pic>
      <p:pic>
        <p:nvPicPr>
          <p:cNvPr id="113" name="图片 112"/>
          <p:cNvPicPr>
            <a:picLocks noChangeAspect="1"/>
          </p:cNvPicPr>
          <p:nvPr/>
        </p:nvPicPr>
        <p:blipFill>
          <a:blip r:embed="rId3"/>
          <a:srcRect l="27603" t="64262"/>
          <a:stretch>
            <a:fillRect/>
          </a:stretch>
        </p:blipFill>
        <p:spPr>
          <a:xfrm>
            <a:off x="1" y="0"/>
            <a:ext cx="8550511" cy="4060993"/>
          </a:xfrm>
          <a:custGeom>
            <a:avLst/>
            <a:gdLst>
              <a:gd name="connsiteX0" fmla="*/ 0 w 8550511"/>
              <a:gd name="connsiteY0" fmla="*/ 0 h 4060993"/>
              <a:gd name="connsiteX1" fmla="*/ 8550511 w 8550511"/>
              <a:gd name="connsiteY1" fmla="*/ 0 h 4060993"/>
              <a:gd name="connsiteX2" fmla="*/ 8550511 w 8550511"/>
              <a:gd name="connsiteY2" fmla="*/ 4060993 h 4060993"/>
              <a:gd name="connsiteX3" fmla="*/ 0 w 8550511"/>
              <a:gd name="connsiteY3" fmla="*/ 4060993 h 4060993"/>
            </a:gdLst>
            <a:ahLst/>
            <a:cxnLst>
              <a:cxn ang="0">
                <a:pos x="connsiteX0" y="connsiteY0"/>
              </a:cxn>
              <a:cxn ang="0">
                <a:pos x="connsiteX1" y="connsiteY1"/>
              </a:cxn>
              <a:cxn ang="0">
                <a:pos x="connsiteX2" y="connsiteY2"/>
              </a:cxn>
              <a:cxn ang="0">
                <a:pos x="connsiteX3" y="connsiteY3"/>
              </a:cxn>
            </a:cxnLst>
            <a:rect l="l" t="t" r="r" b="b"/>
            <a:pathLst>
              <a:path w="8550511" h="4060993">
                <a:moveTo>
                  <a:pt x="0" y="0"/>
                </a:moveTo>
                <a:lnTo>
                  <a:pt x="8550511" y="0"/>
                </a:lnTo>
                <a:lnTo>
                  <a:pt x="8550511" y="4060993"/>
                </a:lnTo>
                <a:lnTo>
                  <a:pt x="0" y="4060993"/>
                </a:lnTo>
                <a:close/>
              </a:path>
            </a:pathLst>
          </a:custGeom>
        </p:spPr>
      </p:pic>
      <p:pic>
        <p:nvPicPr>
          <p:cNvPr id="119" name="图片 118"/>
          <p:cNvPicPr>
            <a:picLocks noChangeAspect="1"/>
          </p:cNvPicPr>
          <p:nvPr/>
        </p:nvPicPr>
        <p:blipFill rotWithShape="1">
          <a:blip r:embed="rId4"/>
          <a:srcRect l="-13545" t="1" r="34945" b="41439"/>
          <a:stretch>
            <a:fillRect/>
          </a:stretch>
        </p:blipFill>
        <p:spPr>
          <a:xfrm rot="605302">
            <a:off x="5994360" y="2794755"/>
            <a:ext cx="6459513" cy="4612577"/>
          </a:xfrm>
          <a:custGeom>
            <a:avLst/>
            <a:gdLst>
              <a:gd name="connsiteX0" fmla="*/ 0 w 6459513"/>
              <a:gd name="connsiteY0" fmla="*/ 0 h 4612577"/>
              <a:gd name="connsiteX1" fmla="*/ 5833918 w 6459513"/>
              <a:gd name="connsiteY1" fmla="*/ 0 h 4612577"/>
              <a:gd name="connsiteX2" fmla="*/ 6459513 w 6459513"/>
              <a:gd name="connsiteY2" fmla="*/ 3516206 h 4612577"/>
              <a:gd name="connsiteX3" fmla="*/ 297276 w 6459513"/>
              <a:gd name="connsiteY3" fmla="*/ 4612577 h 4612577"/>
            </a:gdLst>
            <a:ahLst/>
            <a:cxnLst>
              <a:cxn ang="0">
                <a:pos x="connsiteX0" y="connsiteY0"/>
              </a:cxn>
              <a:cxn ang="0">
                <a:pos x="connsiteX1" y="connsiteY1"/>
              </a:cxn>
              <a:cxn ang="0">
                <a:pos x="connsiteX2" y="connsiteY2"/>
              </a:cxn>
              <a:cxn ang="0">
                <a:pos x="connsiteX3" y="connsiteY3"/>
              </a:cxn>
            </a:cxnLst>
            <a:rect l="l" t="t" r="r" b="b"/>
            <a:pathLst>
              <a:path w="6459513" h="4612577">
                <a:moveTo>
                  <a:pt x="0" y="0"/>
                </a:moveTo>
                <a:lnTo>
                  <a:pt x="5833918" y="0"/>
                </a:lnTo>
                <a:lnTo>
                  <a:pt x="6459513" y="3516206"/>
                </a:lnTo>
                <a:lnTo>
                  <a:pt x="297276" y="4612577"/>
                </a:lnTo>
                <a:close/>
              </a:path>
            </a:pathLst>
          </a:custGeom>
        </p:spPr>
      </p:pic>
      <p:sp>
        <p:nvSpPr>
          <p:cNvPr id="17" name="任意多边形: 形状 16"/>
          <p:cNvSpPr/>
          <p:nvPr/>
        </p:nvSpPr>
        <p:spPr>
          <a:xfrm>
            <a:off x="1" y="0"/>
            <a:ext cx="1837206" cy="6858000"/>
          </a:xfrm>
          <a:custGeom>
            <a:avLst/>
            <a:gdLst>
              <a:gd name="connsiteX0" fmla="*/ 0 w 2347833"/>
              <a:gd name="connsiteY0" fmla="*/ 0 h 6858000"/>
              <a:gd name="connsiteX1" fmla="*/ 2347833 w 2347833"/>
              <a:gd name="connsiteY1" fmla="*/ 0 h 6858000"/>
              <a:gd name="connsiteX2" fmla="*/ 2347833 w 2347833"/>
              <a:gd name="connsiteY2" fmla="*/ 6858000 h 6858000"/>
              <a:gd name="connsiteX3" fmla="*/ 0 w 234783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347833" h="6858000">
                <a:moveTo>
                  <a:pt x="0" y="0"/>
                </a:moveTo>
                <a:lnTo>
                  <a:pt x="2347833" y="0"/>
                </a:lnTo>
                <a:lnTo>
                  <a:pt x="2347833" y="6858000"/>
                </a:lnTo>
                <a:lnTo>
                  <a:pt x="0" y="6858000"/>
                </a:lnTo>
                <a:close/>
              </a:path>
            </a:pathLst>
          </a:custGeom>
          <a:gradFill>
            <a:gsLst>
              <a:gs pos="38000">
                <a:srgbClr val="020457"/>
              </a:gs>
              <a:gs pos="100000">
                <a:srgbClr val="06023D"/>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文本框 8"/>
          <p:cNvSpPr txBox="1"/>
          <p:nvPr/>
        </p:nvSpPr>
        <p:spPr>
          <a:xfrm>
            <a:off x="10115089" y="6260953"/>
            <a:ext cx="2893925" cy="261610"/>
          </a:xfrm>
          <a:prstGeom prst="rect">
            <a:avLst/>
          </a:prstGeom>
          <a:noFill/>
        </p:spPr>
        <p:txBody>
          <a:bodyPr wrap="square">
            <a:spAutoFit/>
          </a:bodyPr>
          <a:lstStyle>
            <a:defPPr>
              <a:defRPr lang="zh-CN"/>
            </a:defPPr>
            <a:lvl1pPr fontAlgn="ctr">
              <a:defRPr sz="2000" b="0" i="0" u="none" strike="noStrike">
                <a:solidFill>
                  <a:srgbClr val="000000"/>
                </a:solidFill>
                <a:effectLst/>
                <a:latin typeface="+mj-lt"/>
                <a:ea typeface="Microsoft YaHei" panose="020B0503020204020204" pitchFamily="34" charset="-122"/>
              </a:defRPr>
            </a:lvl1pPr>
          </a:lstStyle>
          <a:p>
            <a:r>
              <a:rPr lang="en-US" altLang="zh-CN" sz="1100" dirty="0">
                <a:solidFill>
                  <a:schemeClr val="bg1"/>
                </a:solidFill>
                <a:ea typeface="Arial" panose="020B0604020202020204" pitchFamily="34" charset="0"/>
              </a:rPr>
              <a:t>PRESENTATION</a:t>
            </a:r>
            <a:endParaRPr lang="en-US" altLang="zh-CN" sz="1100" dirty="0">
              <a:solidFill>
                <a:schemeClr val="bg1"/>
              </a:solidFill>
              <a:ea typeface="Arial" panose="020B0604020202020204" pitchFamily="34" charset="0"/>
            </a:endParaRPr>
          </a:p>
        </p:txBody>
      </p:sp>
      <p:grpSp>
        <p:nvGrpSpPr>
          <p:cNvPr id="45" name="组合 44"/>
          <p:cNvGrpSpPr/>
          <p:nvPr/>
        </p:nvGrpSpPr>
        <p:grpSpPr>
          <a:xfrm rot="16200000">
            <a:off x="1435082" y="5418951"/>
            <a:ext cx="761187" cy="761187"/>
            <a:chOff x="1984442" y="5680952"/>
            <a:chExt cx="476655" cy="476655"/>
          </a:xfrm>
          <a:solidFill>
            <a:srgbClr val="AF2EE2"/>
          </a:solidFill>
        </p:grpSpPr>
        <p:sp>
          <p:nvSpPr>
            <p:cNvPr id="28" name="椭圆 27"/>
            <p:cNvSpPr/>
            <p:nvPr/>
          </p:nvSpPr>
          <p:spPr>
            <a:xfrm>
              <a:off x="1984442" y="5680952"/>
              <a:ext cx="476655" cy="47665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半闭框 29"/>
            <p:cNvSpPr/>
            <p:nvPr/>
          </p:nvSpPr>
          <p:spPr>
            <a:xfrm rot="13500593">
              <a:off x="2141181" y="5797398"/>
              <a:ext cx="163177" cy="163177"/>
            </a:xfrm>
            <a:prstGeom prst="halfFrame">
              <a:avLst>
                <a:gd name="adj1" fmla="val 20149"/>
                <a:gd name="adj2" fmla="val 1895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 name="文本框 1"/>
          <p:cNvSpPr txBox="1"/>
          <p:nvPr/>
        </p:nvSpPr>
        <p:spPr>
          <a:xfrm>
            <a:off x="2468880" y="1840230"/>
            <a:ext cx="8545195" cy="1938020"/>
          </a:xfrm>
          <a:prstGeom prst="rect">
            <a:avLst/>
          </a:prstGeom>
          <a:noFill/>
        </p:spPr>
        <p:txBody>
          <a:bodyPr wrap="square">
            <a:spAutoFit/>
          </a:bodyPr>
          <a:lstStyle/>
          <a:p>
            <a:pPr algn="ctr" fontAlgn="ctr"/>
            <a:r>
              <a:rPr lang="en-US" altLang="zh-CN" sz="6000" b="0" i="0" u="none" strike="noStrike" dirty="0">
                <a:solidFill>
                  <a:schemeClr val="bg1"/>
                </a:solidFill>
                <a:effectLst/>
                <a:latin typeface="+mj-lt"/>
                <a:ea typeface="Arial" panose="020B0604020202020204" pitchFamily="34" charset="0"/>
              </a:rPr>
              <a:t>Thank you</a:t>
            </a:r>
            <a:r>
              <a:rPr lang="en-GB" altLang="en-US" sz="6000" b="0" i="0" u="none" strike="noStrike" dirty="0">
                <a:solidFill>
                  <a:schemeClr val="bg1"/>
                </a:solidFill>
                <a:effectLst/>
                <a:latin typeface="+mj-lt"/>
                <a:ea typeface="Arial" panose="020B0604020202020204" pitchFamily="34" charset="0"/>
              </a:rPr>
              <a:t> </a:t>
            </a:r>
            <a:r>
              <a:rPr lang="en-US" altLang="zh-CN" sz="6000" dirty="0">
                <a:solidFill>
                  <a:schemeClr val="bg1"/>
                </a:solidFill>
                <a:latin typeface="+mj-lt"/>
                <a:ea typeface="Arial" panose="020B0604020202020204" pitchFamily="34" charset="0"/>
              </a:rPr>
              <a:t>For </a:t>
            </a:r>
            <a:r>
              <a:rPr lang="en-GB" altLang="en-US" sz="6000" dirty="0">
                <a:solidFill>
                  <a:schemeClr val="bg1"/>
                </a:solidFill>
                <a:latin typeface="+mj-lt"/>
                <a:ea typeface="Arial" panose="020B0604020202020204" pitchFamily="34" charset="0"/>
              </a:rPr>
              <a:t>Your Attention!!</a:t>
            </a:r>
            <a:endParaRPr lang="en-GB" altLang="en-US" sz="6000" b="0" i="0" u="none" strike="noStrike" dirty="0">
              <a:solidFill>
                <a:schemeClr val="bg1"/>
              </a:solidFill>
              <a:effectLst/>
              <a:latin typeface="+mj-lt"/>
              <a:ea typeface="Arial" panose="020B0604020202020204" pitchFamily="34" charset="0"/>
            </a:endParaRPr>
          </a:p>
        </p:txBody>
      </p:sp>
      <p:sp>
        <p:nvSpPr>
          <p:cNvPr id="100" name="文本框 99"/>
          <p:cNvSpPr txBox="1"/>
          <p:nvPr/>
        </p:nvSpPr>
        <p:spPr>
          <a:xfrm>
            <a:off x="616374" y="1910722"/>
            <a:ext cx="1064798" cy="707886"/>
          </a:xfrm>
          <a:prstGeom prst="rect">
            <a:avLst/>
          </a:prstGeom>
          <a:noFill/>
        </p:spPr>
        <p:txBody>
          <a:bodyPr wrap="square">
            <a:spAutoFit/>
          </a:bodyPr>
          <a:lstStyle/>
          <a:p>
            <a:pPr fontAlgn="ctr"/>
            <a:r>
              <a:rPr lang="en-US" altLang="zh-CN" sz="4000" b="0" i="0" u="none" strike="noStrike" dirty="0">
                <a:solidFill>
                  <a:schemeClr val="bg1"/>
                </a:solidFill>
                <a:effectLst/>
                <a:latin typeface="+mj-lt"/>
                <a:ea typeface="Arial" panose="020B0604020202020204" pitchFamily="34" charset="0"/>
              </a:rPr>
              <a:t>02</a:t>
            </a:r>
            <a:endParaRPr lang="en-US" altLang="zh-CN" sz="4000" b="0" i="0" u="none" strike="noStrike" dirty="0">
              <a:solidFill>
                <a:schemeClr val="bg1"/>
              </a:solidFill>
              <a:effectLst/>
              <a:latin typeface="+mj-lt"/>
              <a:ea typeface="Arial" panose="020B0604020202020204" pitchFamily="34" charset="0"/>
            </a:endParaRPr>
          </a:p>
        </p:txBody>
      </p:sp>
      <p:cxnSp>
        <p:nvCxnSpPr>
          <p:cNvPr id="102" name="直接连接符 101"/>
          <p:cNvCxnSpPr/>
          <p:nvPr/>
        </p:nvCxnSpPr>
        <p:spPr>
          <a:xfrm>
            <a:off x="719138" y="2644008"/>
            <a:ext cx="4169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COMMONDATA" val="eyJoZGlkIjoiMjM5MTBlNmI2YTY3ZjIxYzUzNmRhMGQyM2YxMDkyYj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海外衬线复古01">
      <a:majorFont>
        <a:latin typeface="DM Serif Display"/>
        <a:ea typeface=""/>
        <a:cs typeface=""/>
      </a:majorFont>
      <a:minorFont>
        <a:latin typeface="Gilro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6260</Words>
  <Application>WPS Presentation</Application>
  <PresentationFormat>宽屏</PresentationFormat>
  <Paragraphs>208</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Microsoft YaHei</vt:lpstr>
      <vt:lpstr>Wingdings</vt:lpstr>
      <vt:lpstr>Times New Roman</vt:lpstr>
      <vt:lpstr>Gilroy</vt:lpstr>
      <vt:lpstr>DM Serif Display</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Hui abbey</dc:creator>
  <cp:lastModifiedBy>Nigus Admas</cp:lastModifiedBy>
  <cp:revision>39</cp:revision>
  <dcterms:created xsi:type="dcterms:W3CDTF">2023-03-30T01:36:00Z</dcterms:created>
  <dcterms:modified xsi:type="dcterms:W3CDTF">2026-08-04T04:43:47Z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1B9D6C76705C46289584324561D8E1E1_11</vt:lpwstr>
  </property>
  <property fmtid="{D5CDD505-2E9C-101B-9397-08002B2CF9AE}" pid="3" name="KSOProductBuildVer">
    <vt:lpwstr>1033-12.1.0.28032</vt:lpwstr>
  </property>
</Properties>
</file>